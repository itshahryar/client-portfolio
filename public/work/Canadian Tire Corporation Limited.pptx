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58" r:id="rId4"/>
    <p:sldId id="270" r:id="rId5"/>
  </p:sldIdLst>
  <p:sldSz cx="18288000" cy="10287000"/>
  <p:notesSz cx="6858000" cy="9144000"/>
  <p:embeddedFontLst>
    <p:embeddedFont>
      <p:font typeface="League Spartan" panose="020B060402020202020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Poppins" panose="020B0604020202020204" charset="0"/>
      <p:regular r:id="rId11"/>
    </p:embeddedFont>
    <p:embeddedFont>
      <p:font typeface="Lato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6607" autoAdjust="0"/>
  </p:normalViewPr>
  <p:slideViewPr>
    <p:cSldViewPr>
      <p:cViewPr varScale="1">
        <p:scale>
          <a:sx n="43" d="100"/>
          <a:sy n="43" d="100"/>
        </p:scale>
        <p:origin x="93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966700" y="-130175"/>
            <a:ext cx="5943600" cy="10547350"/>
            <a:chOff x="0" y="0"/>
            <a:chExt cx="1565393" cy="27779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65393" cy="2777903"/>
            </a:xfrm>
            <a:custGeom>
              <a:avLst/>
              <a:gdLst/>
              <a:ahLst/>
              <a:cxnLst/>
              <a:rect l="l" t="t" r="r" b="b"/>
              <a:pathLst>
                <a:path w="1565393" h="2777903">
                  <a:moveTo>
                    <a:pt x="66431" y="0"/>
                  </a:moveTo>
                  <a:lnTo>
                    <a:pt x="1498962" y="0"/>
                  </a:lnTo>
                  <a:cubicBezTo>
                    <a:pt x="1535651" y="0"/>
                    <a:pt x="1565393" y="29742"/>
                    <a:pt x="1565393" y="66431"/>
                  </a:cubicBezTo>
                  <a:lnTo>
                    <a:pt x="1565393" y="2711472"/>
                  </a:lnTo>
                  <a:cubicBezTo>
                    <a:pt x="1565393" y="2729091"/>
                    <a:pt x="1558394" y="2745988"/>
                    <a:pt x="1545935" y="2758446"/>
                  </a:cubicBezTo>
                  <a:cubicBezTo>
                    <a:pt x="1533477" y="2770904"/>
                    <a:pt x="1516580" y="2777903"/>
                    <a:pt x="1498962" y="2777903"/>
                  </a:cubicBezTo>
                  <a:lnTo>
                    <a:pt x="66431" y="2777903"/>
                  </a:lnTo>
                  <a:cubicBezTo>
                    <a:pt x="29742" y="2777903"/>
                    <a:pt x="0" y="2748161"/>
                    <a:pt x="0" y="2711472"/>
                  </a:cubicBezTo>
                  <a:lnTo>
                    <a:pt x="0" y="66431"/>
                  </a:lnTo>
                  <a:cubicBezTo>
                    <a:pt x="0" y="48812"/>
                    <a:pt x="6999" y="31915"/>
                    <a:pt x="19457" y="19457"/>
                  </a:cubicBezTo>
                  <a:cubicBezTo>
                    <a:pt x="31915" y="6999"/>
                    <a:pt x="48812" y="0"/>
                    <a:pt x="6643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9813325" y="1102366"/>
            <a:ext cx="8113963" cy="8082268"/>
            <a:chOff x="0" y="0"/>
            <a:chExt cx="6502400" cy="6477000"/>
          </a:xfrm>
        </p:grpSpPr>
        <p:sp>
          <p:nvSpPr>
            <p:cNvPr id="7" name="Freeform 7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3"/>
              <a:stretch>
                <a:fillRect l="-24665" r="-24665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28700" y="3320888"/>
            <a:ext cx="5630627" cy="845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45"/>
              </a:lnSpc>
              <a:spcBef>
                <a:spcPct val="0"/>
              </a:spcBef>
            </a:pPr>
            <a:r>
              <a:rPr lang="en-US" sz="5247" dirty="0" smtClean="0">
                <a:solidFill>
                  <a:srgbClr val="000000"/>
                </a:solidFill>
                <a:latin typeface="Lato Bold"/>
              </a:rPr>
              <a:t>CANADIAN TIRE</a:t>
            </a:r>
            <a:endParaRPr lang="en-US" sz="5247" dirty="0">
              <a:solidFill>
                <a:srgbClr val="000000"/>
              </a:solidFill>
              <a:latin typeface="Lat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4203229"/>
            <a:ext cx="8784625" cy="2645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7"/>
              </a:lnSpc>
              <a:spcBef>
                <a:spcPct val="0"/>
              </a:spcBef>
            </a:pPr>
            <a:r>
              <a:rPr lang="en-US" sz="7505" dirty="0">
                <a:solidFill>
                  <a:srgbClr val="004AAD"/>
                </a:solidFill>
                <a:latin typeface="League Spartan"/>
              </a:rPr>
              <a:t>CORPORATION</a:t>
            </a:r>
          </a:p>
          <a:p>
            <a:pPr>
              <a:lnSpc>
                <a:spcPts val="10507"/>
              </a:lnSpc>
              <a:spcBef>
                <a:spcPct val="0"/>
              </a:spcBef>
            </a:pPr>
            <a:r>
              <a:rPr lang="en-US" sz="7505" dirty="0" smtClean="0">
                <a:solidFill>
                  <a:srgbClr val="004AAD"/>
                </a:solidFill>
                <a:latin typeface="League Spartan"/>
              </a:rPr>
              <a:t>LIMITED</a:t>
            </a:r>
            <a:endParaRPr lang="en-US" sz="7505" dirty="0">
              <a:solidFill>
                <a:srgbClr val="004AAD"/>
              </a:solidFill>
              <a:latin typeface="League Spart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2723" y="8648700"/>
            <a:ext cx="563062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20B0604020202020204" charset="0"/>
                <a:cs typeface="Poppins" panose="020B0604020202020204" charset="0"/>
              </a:rPr>
              <a:t>Submitted to:</a:t>
            </a:r>
          </a:p>
          <a:p>
            <a:r>
              <a:rPr lang="en-US" sz="2000" dirty="0">
                <a:latin typeface="Poppins" panose="020B0604020202020204" charset="0"/>
                <a:cs typeface="Poppins" panose="020B0604020202020204" charset="0"/>
              </a:rPr>
              <a:t>Submitted by:</a:t>
            </a:r>
          </a:p>
          <a:p>
            <a:endParaRPr lang="en-US" sz="2000" dirty="0">
              <a:latin typeface="Poppins" panose="020B0604020202020204" charset="0"/>
              <a:cs typeface="Poppins" panose="020B0604020202020204" charset="0"/>
            </a:endParaRPr>
          </a:p>
          <a:p>
            <a:r>
              <a:rPr lang="en-US" sz="2000" dirty="0">
                <a:latin typeface="Poppins" panose="020B0604020202020204" charset="0"/>
                <a:cs typeface="Poppins" panose="020B0604020202020204" charset="0"/>
              </a:rPr>
              <a:t>Dated: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01504" y="4473265"/>
            <a:ext cx="15684991" cy="391759"/>
            <a:chOff x="0" y="0"/>
            <a:chExt cx="4131027" cy="1031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31027" cy="103179"/>
            </a:xfrm>
            <a:custGeom>
              <a:avLst/>
              <a:gdLst/>
              <a:ahLst/>
              <a:cxnLst/>
              <a:rect l="l" t="t" r="r" b="b"/>
              <a:pathLst>
                <a:path w="4131027" h="103179">
                  <a:moveTo>
                    <a:pt x="0" y="0"/>
                  </a:moveTo>
                  <a:lnTo>
                    <a:pt x="4131027" y="0"/>
                  </a:lnTo>
                  <a:lnTo>
                    <a:pt x="4131027" y="103179"/>
                  </a:lnTo>
                  <a:lnTo>
                    <a:pt x="0" y="103179"/>
                  </a:lnTo>
                  <a:close/>
                </a:path>
              </a:pathLst>
            </a:custGeom>
            <a:solidFill>
              <a:srgbClr val="57487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028430" y="3505579"/>
            <a:ext cx="2327131" cy="23271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01504" y="442944"/>
            <a:ext cx="7888443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382"/>
              </a:lnSpc>
              <a:spcBef>
                <a:spcPct val="0"/>
              </a:spcBef>
            </a:pPr>
            <a:r>
              <a:rPr lang="en-US" sz="5987" dirty="0" smtClean="0">
                <a:solidFill>
                  <a:srgbClr val="004AAD"/>
                </a:solidFill>
                <a:latin typeface="League Spartan"/>
              </a:rPr>
              <a:t>Executive Summary </a:t>
            </a:r>
            <a:endParaRPr lang="en-US" sz="5987" dirty="0">
              <a:solidFill>
                <a:srgbClr val="004AAD"/>
              </a:solidFill>
              <a:latin typeface="League Spartan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5937728" y="3505579"/>
            <a:ext cx="2327131" cy="232713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46009" y="3505579"/>
            <a:ext cx="2327131" cy="232713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932440" y="3505579"/>
            <a:ext cx="2327131" cy="232713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124327" y="3926653"/>
            <a:ext cx="2051275" cy="1342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75"/>
              </a:lnSpc>
              <a:spcBef>
                <a:spcPct val="0"/>
              </a:spcBef>
            </a:pPr>
            <a:r>
              <a:rPr lang="en-US" sz="7911">
                <a:solidFill>
                  <a:srgbClr val="004AAD"/>
                </a:solidFill>
                <a:latin typeface="League Spartan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32608" y="3926653"/>
            <a:ext cx="2051275" cy="1342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75"/>
              </a:lnSpc>
              <a:spcBef>
                <a:spcPct val="0"/>
              </a:spcBef>
            </a:pPr>
            <a:r>
              <a:rPr lang="en-US" sz="7911" dirty="0">
                <a:solidFill>
                  <a:srgbClr val="004AAD"/>
                </a:solidFill>
                <a:latin typeface="League Spartan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98409" y="3945703"/>
            <a:ext cx="2051275" cy="1342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75"/>
              </a:lnSpc>
              <a:spcBef>
                <a:spcPct val="0"/>
              </a:spcBef>
            </a:pPr>
            <a:r>
              <a:rPr lang="en-US" sz="7911">
                <a:solidFill>
                  <a:srgbClr val="004AAD"/>
                </a:solidFill>
                <a:latin typeface="League Spartan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87664" y="3945703"/>
            <a:ext cx="2051275" cy="1342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75"/>
              </a:lnSpc>
              <a:spcBef>
                <a:spcPct val="0"/>
              </a:spcBef>
            </a:pPr>
            <a:r>
              <a:rPr lang="en-US" sz="7911">
                <a:solidFill>
                  <a:srgbClr val="004AAD"/>
                </a:solidFill>
                <a:latin typeface="League Spartan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91690" y="5980326"/>
            <a:ext cx="2955954" cy="2779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76"/>
              </a:lnSpc>
              <a:spcBef>
                <a:spcPct val="0"/>
              </a:spcBef>
            </a:pPr>
            <a:r>
              <a:rPr lang="en-US" sz="2400" b="1" dirty="0">
                <a:latin typeface="Poppins" panose="020B0604020202020204" charset="0"/>
                <a:cs typeface="Poppins" panose="020B0604020202020204" charset="0"/>
              </a:rPr>
              <a:t>Compliance </a:t>
            </a:r>
            <a:r>
              <a:rPr lang="en-US" sz="2400" b="1" dirty="0" smtClean="0">
                <a:latin typeface="Poppins" panose="020B0604020202020204" charset="0"/>
                <a:cs typeface="Poppins" panose="020B0604020202020204" charset="0"/>
              </a:rPr>
              <a:t>Risks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  <a:p>
            <a:pPr>
              <a:lnSpc>
                <a:spcPts val="3176"/>
              </a:lnSpc>
              <a:spcBef>
                <a:spcPct val="0"/>
              </a:spcBef>
            </a:pPr>
            <a:r>
              <a:rPr lang="en-US" sz="2400" dirty="0">
                <a:latin typeface="Poppins" panose="020B0604020202020204" charset="0"/>
                <a:cs typeface="Poppins" panose="020B0604020202020204" charset="0"/>
              </a:rPr>
              <a:t>Regulatory Non-compliance and Ethical sources and label practices as our risks</a:t>
            </a:r>
          </a:p>
          <a:p>
            <a:pPr algn="ctr">
              <a:lnSpc>
                <a:spcPts val="2620"/>
              </a:lnSpc>
              <a:spcBef>
                <a:spcPct val="0"/>
              </a:spcBef>
            </a:pPr>
            <a:endParaRPr lang="en-US" sz="1871" dirty="0">
              <a:solidFill>
                <a:srgbClr val="000000"/>
              </a:solidFill>
              <a:latin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744314" y="5976409"/>
            <a:ext cx="2955954" cy="1958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76"/>
              </a:lnSpc>
              <a:spcBef>
                <a:spcPct val="0"/>
              </a:spcBef>
            </a:pPr>
            <a:r>
              <a:rPr lang="en-US" sz="2400" b="1" dirty="0">
                <a:latin typeface="Poppins" panose="020B0604020202020204" charset="0"/>
                <a:cs typeface="Poppins" panose="020B0604020202020204" charset="0"/>
              </a:rPr>
              <a:t>Hazard </a:t>
            </a:r>
            <a:r>
              <a:rPr lang="en-US" sz="2400" b="1" dirty="0" smtClean="0">
                <a:latin typeface="Poppins" panose="020B0604020202020204" charset="0"/>
                <a:cs typeface="Poppins" panose="020B0604020202020204" charset="0"/>
              </a:rPr>
              <a:t>risks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  <a:p>
            <a:pPr>
              <a:lnSpc>
                <a:spcPts val="3176"/>
              </a:lnSpc>
              <a:spcBef>
                <a:spcPct val="0"/>
              </a:spcBef>
            </a:pPr>
            <a:r>
              <a:rPr lang="en-US" sz="2400" dirty="0">
                <a:latin typeface="Poppins" panose="020B0604020202020204" charset="0"/>
                <a:cs typeface="Poppins" panose="020B0604020202020204" charset="0"/>
              </a:rPr>
              <a:t>Natural Disasters, Product Safety, and Quality</a:t>
            </a:r>
          </a:p>
          <a:p>
            <a:pPr algn="ctr">
              <a:lnSpc>
                <a:spcPts val="2620"/>
              </a:lnSpc>
              <a:spcBef>
                <a:spcPct val="0"/>
              </a:spcBef>
            </a:pPr>
            <a:endParaRPr lang="en-US" sz="1871" dirty="0">
              <a:solidFill>
                <a:srgbClr val="000000"/>
              </a:solidFill>
              <a:latin typeface="Poppi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775000" y="6037327"/>
            <a:ext cx="2955954" cy="2779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76"/>
              </a:lnSpc>
              <a:spcBef>
                <a:spcPct val="0"/>
              </a:spcBef>
            </a:pPr>
            <a:r>
              <a:rPr lang="en-US" sz="2400" b="1" dirty="0">
                <a:latin typeface="Poppins" panose="020B0604020202020204" charset="0"/>
                <a:cs typeface="Poppins" panose="020B0604020202020204" charset="0"/>
              </a:rPr>
              <a:t>Control </a:t>
            </a:r>
            <a:r>
              <a:rPr lang="en-US" sz="2400" b="1" dirty="0" smtClean="0">
                <a:latin typeface="Poppins" panose="020B0604020202020204" charset="0"/>
                <a:cs typeface="Poppins" panose="020B0604020202020204" charset="0"/>
              </a:rPr>
              <a:t>Risks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  <a:p>
            <a:pPr>
              <a:lnSpc>
                <a:spcPts val="3176"/>
              </a:lnSpc>
              <a:spcBef>
                <a:spcPct val="0"/>
              </a:spcBef>
            </a:pPr>
            <a:r>
              <a:rPr lang="en-US" sz="2400" dirty="0">
                <a:latin typeface="Poppins" panose="020B0604020202020204" charset="0"/>
                <a:cs typeface="Poppins" panose="020B0604020202020204" charset="0"/>
              </a:rPr>
              <a:t>Supply chain Disruptions and Information security and Data Breach Risks</a:t>
            </a:r>
          </a:p>
          <a:p>
            <a:pPr algn="ctr">
              <a:lnSpc>
                <a:spcPts val="2620"/>
              </a:lnSpc>
              <a:spcBef>
                <a:spcPct val="0"/>
              </a:spcBef>
            </a:pPr>
            <a:endParaRPr lang="en-US" sz="1871" dirty="0">
              <a:solidFill>
                <a:srgbClr val="000000"/>
              </a:solidFill>
              <a:latin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087664" y="6041477"/>
            <a:ext cx="3184629" cy="2795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76"/>
              </a:lnSpc>
              <a:spcBef>
                <a:spcPct val="0"/>
              </a:spcBef>
            </a:pPr>
            <a:r>
              <a:rPr lang="en-US" sz="2400" b="1" dirty="0">
                <a:latin typeface="Poppins" panose="020B0604020202020204" charset="0"/>
                <a:cs typeface="Poppins" panose="020B0604020202020204" charset="0"/>
              </a:rPr>
              <a:t>Opportunity </a:t>
            </a:r>
            <a:r>
              <a:rPr lang="en-US" sz="2400" b="1" dirty="0" smtClean="0">
                <a:latin typeface="Poppins" panose="020B0604020202020204" charset="0"/>
                <a:cs typeface="Poppins" panose="020B0604020202020204" charset="0"/>
              </a:rPr>
              <a:t>risks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  <a:p>
            <a:pPr>
              <a:lnSpc>
                <a:spcPts val="3176"/>
              </a:lnSpc>
              <a:spcBef>
                <a:spcPct val="0"/>
              </a:spcBef>
            </a:pPr>
            <a:r>
              <a:rPr lang="en-US" sz="2400" dirty="0">
                <a:latin typeface="Poppins" panose="020B0604020202020204" charset="0"/>
                <a:cs typeface="Poppins" panose="020B0604020202020204" charset="0"/>
              </a:rPr>
              <a:t>Innovation and technology adoption, Market competition, and Customer Demands</a:t>
            </a:r>
          </a:p>
          <a:p>
            <a:pPr algn="ctr">
              <a:lnSpc>
                <a:spcPts val="2620"/>
              </a:lnSpc>
              <a:spcBef>
                <a:spcPct val="0"/>
              </a:spcBef>
            </a:pPr>
            <a:endParaRPr lang="en-US" sz="1871" dirty="0">
              <a:solidFill>
                <a:srgbClr val="000000"/>
              </a:solidFill>
              <a:latin typeface="Poppi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01504" y="1512110"/>
            <a:ext cx="14059382" cy="2010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Poppins" panose="020B0604020202020204" charset="0"/>
                <a:cs typeface="Poppins" panose="020B0604020202020204" charset="0"/>
              </a:rPr>
              <a:t>Canadian Tire is a Limited company</a:t>
            </a:r>
          </a:p>
          <a:p>
            <a:pPr marL="285750" indent="-28575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Poppins" panose="020B0604020202020204" charset="0"/>
                <a:cs typeface="Poppins" panose="020B0604020202020204" charset="0"/>
              </a:rPr>
              <a:t>A detailed description of the company and the Board of Executives</a:t>
            </a:r>
          </a:p>
          <a:p>
            <a:pPr marL="285750" indent="-28575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Poppins" panose="020B0604020202020204" charset="0"/>
                <a:cs typeface="Poppins" panose="020B0604020202020204" charset="0"/>
              </a:rPr>
              <a:t>Two risks each for the risk </a:t>
            </a:r>
            <a:r>
              <a:rPr lang="en-US" sz="2400" dirty="0" smtClean="0">
                <a:latin typeface="Poppins" panose="020B0604020202020204" charset="0"/>
                <a:cs typeface="Poppins" panose="020B0604020202020204" charset="0"/>
              </a:rPr>
              <a:t>sector</a:t>
            </a:r>
          </a:p>
          <a:p>
            <a:pPr marL="285750" indent="-28575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Poppins" panose="020B0604020202020204" charset="0"/>
                <a:cs typeface="Poppins" panose="020B0604020202020204" charset="0"/>
              </a:rPr>
              <a:t>Four Risks</a:t>
            </a:r>
            <a:endParaRPr lang="en-US" sz="2400" dirty="0">
              <a:latin typeface="Poppins" panose="020B0604020202020204" charset="0"/>
              <a:cs typeface="Poppins" panose="020B0604020202020204" charset="0"/>
            </a:endParaRPr>
          </a:p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491690" y="9061737"/>
            <a:ext cx="6906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Poppins" panose="020B0604020202020204" charset="0"/>
                <a:cs typeface="Poppins" panose="020B0604020202020204" charset="0"/>
              </a:rPr>
              <a:t>risks as minor, moderate, and major </a:t>
            </a:r>
            <a:r>
              <a:rPr lang="en-US" sz="2400" dirty="0" smtClean="0">
                <a:latin typeface="Poppins" panose="020B0604020202020204" charset="0"/>
                <a:cs typeface="Poppins" panose="020B0604020202020204" charset="0"/>
              </a:rPr>
              <a:t>risks</a:t>
            </a:r>
            <a:endParaRPr lang="en-US" sz="2400" dirty="0">
              <a:latin typeface="Poppins" panose="020B0604020202020204" charset="0"/>
              <a:cs typeface="Poppins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81000" y="287020"/>
            <a:ext cx="5367074" cy="705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21"/>
              </a:lnSpc>
              <a:spcBef>
                <a:spcPct val="0"/>
              </a:spcBef>
            </a:pPr>
            <a:r>
              <a:rPr lang="en-US" sz="4086" dirty="0" smtClean="0">
                <a:solidFill>
                  <a:srgbClr val="004AAD"/>
                </a:solidFill>
                <a:latin typeface="League Spartan"/>
              </a:rPr>
              <a:t>Introduction</a:t>
            </a:r>
            <a:endParaRPr lang="en-US" sz="4086" dirty="0">
              <a:solidFill>
                <a:srgbClr val="004AAD"/>
              </a:solidFill>
              <a:latin typeface="League Spart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81000" y="972554"/>
            <a:ext cx="9991297" cy="9438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The top retail companies in Canada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Primary Focus: sales in automotive and hardware-related products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Household, leisure, and sportswear in the form of its subsidiary brands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Company’s primary operation (Canadian Tire chain)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The Sport Check division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Mark’s focus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Sale of petroleum gas with the Canadian Tire Gas+ and in financial services using the Canadian Tire Bank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Started in 1922 by the </a:t>
            </a:r>
            <a:r>
              <a:rPr lang="en-US" sz="2200" dirty="0" err="1">
                <a:latin typeface="Poppins" panose="020B0604020202020204" charset="0"/>
                <a:cs typeface="Poppins" panose="020B0604020202020204" charset="0"/>
              </a:rPr>
              <a:t>Billes</a:t>
            </a: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 Brothers as the Hamilton Tire &amp; Garage Limited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Dealt with the sale and resale of winter tires (situated in the Hamilton area of the City of Toronto)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Shifted to core downtown Toronto near Yonge and was renamed “Canadian Tire Corporation”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Incorporated in 1927 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The first associate outlet was in 1934 and its first distribution center was in 1957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Expanded its services and opened its first gas station in 1958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Delved into financial services in the 1960s and partnered up with a small time Credit funding firm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Concept of privatized money</a:t>
            </a:r>
          </a:p>
          <a:p>
            <a:pPr>
              <a:lnSpc>
                <a:spcPts val="3176"/>
              </a:lnSpc>
              <a:spcBef>
                <a:spcPct val="0"/>
              </a:spcBef>
            </a:pPr>
            <a:endParaRPr lang="en-US" sz="2269" dirty="0">
              <a:solidFill>
                <a:srgbClr val="000000"/>
              </a:solidFill>
              <a:latin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514537" y="640013"/>
            <a:ext cx="7610902" cy="941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Vast growth in the ’70s &amp; 80’s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Expansion of its outlet to the western end of the country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In the 90s, the company grew its strategic plan and expanded its wings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Acquired and partnered with multiple of its subsidiaries from the mid 90’s to late 2010s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Ventured into the sports world by sponsoring teams and then launching its own for fitness and sportswear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In the late 2010s, the Canadian Tire Corporation partnered with international firms like Part Source, </a:t>
            </a:r>
            <a:r>
              <a:rPr lang="en-US" sz="2200" dirty="0" err="1">
                <a:latin typeface="Poppins" panose="020B0604020202020204" charset="0"/>
                <a:cs typeface="Poppins" panose="020B0604020202020204" charset="0"/>
              </a:rPr>
              <a:t>Helly</a:t>
            </a: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 Hansen, Party City, etc.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100 years anniversary in 2022 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Various reward schemes and offers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2019, Net revenue worth of 14.54 billion CAD and has 58,000 employees working in it, including its subsidiary stores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1700 retail outlets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Outlets for its financial and gas services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Occurrences of multiple risks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A proper understanding of the possible risks</a:t>
            </a:r>
          </a:p>
          <a:p>
            <a:pPr marL="342900" indent="-342900">
              <a:lnSpc>
                <a:spcPts val="3176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Poppins" panose="020B0604020202020204" charset="0"/>
                <a:cs typeface="Poppins" panose="020B0604020202020204" charset="0"/>
              </a:rPr>
              <a:t>The purpose of this assessment </a:t>
            </a:r>
            <a:endParaRPr lang="en-US" sz="2200" dirty="0">
              <a:solidFill>
                <a:srgbClr val="00000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77" y="-2932"/>
            <a:ext cx="18293211" cy="10289931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0" y="3334811"/>
            <a:ext cx="18288000" cy="3617379"/>
            <a:chOff x="0" y="0"/>
            <a:chExt cx="4816593" cy="9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52725"/>
            </a:xfrm>
            <a:custGeom>
              <a:avLst/>
              <a:gdLst/>
              <a:ahLst/>
              <a:cxnLst/>
              <a:rect l="l" t="t" r="r" b="b"/>
              <a:pathLst>
                <a:path w="4816592" h="952725">
                  <a:moveTo>
                    <a:pt x="0" y="0"/>
                  </a:moveTo>
                  <a:lnTo>
                    <a:pt x="4816592" y="0"/>
                  </a:lnTo>
                  <a:lnTo>
                    <a:pt x="4816592" y="952725"/>
                  </a:lnTo>
                  <a:lnTo>
                    <a:pt x="0" y="952725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08155" y="4632080"/>
            <a:ext cx="12271686" cy="102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2"/>
              </a:lnSpc>
              <a:spcBef>
                <a:spcPct val="0"/>
              </a:spcBef>
            </a:pPr>
            <a:r>
              <a:rPr lang="en-US" sz="5987" dirty="0">
                <a:solidFill>
                  <a:srgbClr val="004AAD"/>
                </a:solidFill>
                <a:latin typeface="League Spartan"/>
              </a:rPr>
              <a:t>THANKS FOR WATCHING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412</Words>
  <Application>Microsoft Office PowerPoint</Application>
  <PresentationFormat>Custom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League Spartan</vt:lpstr>
      <vt:lpstr>Calibri</vt:lpstr>
      <vt:lpstr>Wingdings</vt:lpstr>
      <vt:lpstr>Poppins</vt:lpstr>
      <vt:lpstr>Lato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Canadian Tire Corporation Limited</dc:title>
  <cp:lastModifiedBy>Moorche</cp:lastModifiedBy>
  <cp:revision>11</cp:revision>
  <dcterms:created xsi:type="dcterms:W3CDTF">2006-08-16T00:00:00Z</dcterms:created>
  <dcterms:modified xsi:type="dcterms:W3CDTF">2023-07-29T06:27:11Z</dcterms:modified>
  <dc:identifier>DAFp_CQ0ouM</dc:identifier>
</cp:coreProperties>
</file>