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72" r:id="rId2"/>
    <p:sldId id="257" r:id="rId3"/>
    <p:sldId id="259" r:id="rId4"/>
    <p:sldId id="260" r:id="rId5"/>
    <p:sldId id="261" r:id="rId6"/>
    <p:sldId id="262" r:id="rId7"/>
    <p:sldId id="263" r:id="rId8"/>
    <p:sldId id="268" r:id="rId9"/>
    <p:sldId id="265" r:id="rId10"/>
    <p:sldId id="269" r:id="rId11"/>
    <p:sldId id="266" r:id="rId12"/>
  </p:sldIdLst>
  <p:sldSz cx="18288000" cy="10287000"/>
  <p:notesSz cx="6858000" cy="9144000"/>
  <p:embeddedFontLst>
    <p:embeddedFont>
      <p:font typeface="Canva Sans Bold" panose="020B0604020202020204" charset="0"/>
      <p:regular r:id="rId14"/>
    </p:embeddedFont>
    <p:embeddedFont>
      <p:font typeface="DM Sans Bold" panose="020B0604020202020204" charset="0"/>
      <p:regular r:id="rId15"/>
    </p:embeddedFont>
    <p:embeddedFont>
      <p:font typeface="Calibri" panose="020F0502020204030204" pitchFamily="34" charset="0"/>
      <p:regular r:id="rId16"/>
      <p:bold r:id="rId17"/>
      <p:italic r:id="rId18"/>
      <p:boldItalic r:id="rId19"/>
    </p:embeddedFont>
    <p:embeddedFont>
      <p:font typeface="DM Sans"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311E"/>
    <a:srgbClr val="CEAF3E"/>
    <a:srgbClr val="FFE2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35" d="100"/>
          <a:sy n="35" d="100"/>
        </p:scale>
        <p:origin x="1194" y="3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 Id="rId4"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 Id="rId4"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CFFF4A-B848-464D-A030-8C60A011E43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74751CA4-5967-41B2-A226-07C1635AEEE9}">
      <dgm:prSet phldrT="[Text]"/>
      <dgm:spPr>
        <a:blipFill rotWithShape="0">
          <a:blip xmlns:r="http://schemas.openxmlformats.org/officeDocument/2006/relationships" r:embed="rId1"/>
          <a:stretch>
            <a:fillRect/>
          </a:stretch>
        </a:blipFill>
      </dgm:spPr>
      <dgm:t>
        <a:bodyPr/>
        <a:lstStyle/>
        <a:p>
          <a:endParaRPr lang="en-US" dirty="0"/>
        </a:p>
      </dgm:t>
    </dgm:pt>
    <dgm:pt modelId="{6914DDAF-3238-4564-B53C-D132EE855E09}" type="parTrans" cxnId="{12874C71-1718-4712-87EF-BEAF83455510}">
      <dgm:prSet/>
      <dgm:spPr/>
      <dgm:t>
        <a:bodyPr/>
        <a:lstStyle/>
        <a:p>
          <a:endParaRPr lang="en-US"/>
        </a:p>
      </dgm:t>
    </dgm:pt>
    <dgm:pt modelId="{33EC01D3-8CF0-4F41-8567-AE18E4AFC513}" type="sibTrans" cxnId="{12874C71-1718-4712-87EF-BEAF83455510}">
      <dgm:prSet/>
      <dgm:spPr/>
      <dgm:t>
        <a:bodyPr/>
        <a:lstStyle/>
        <a:p>
          <a:endParaRPr lang="en-US"/>
        </a:p>
      </dgm:t>
    </dgm:pt>
    <dgm:pt modelId="{BFBB885F-ACB5-4747-8845-0F0527161DC6}">
      <dgm:prSet phldrT="[Text]"/>
      <dgm:spPr>
        <a:blipFill rotWithShape="0">
          <a:blip xmlns:r="http://schemas.openxmlformats.org/officeDocument/2006/relationships" r:embed="rId2"/>
          <a:stretch>
            <a:fillRect/>
          </a:stretch>
        </a:blipFill>
      </dgm:spPr>
      <dgm:t>
        <a:bodyPr/>
        <a:lstStyle/>
        <a:p>
          <a:endParaRPr lang="en-US" dirty="0"/>
        </a:p>
      </dgm:t>
    </dgm:pt>
    <dgm:pt modelId="{F21335E1-DC6F-4323-846E-655CB0900E86}" type="sibTrans" cxnId="{E233B405-AC8A-435E-97F3-A6666FC7E845}">
      <dgm:prSet/>
      <dgm:spPr/>
      <dgm:t>
        <a:bodyPr/>
        <a:lstStyle/>
        <a:p>
          <a:endParaRPr lang="en-US"/>
        </a:p>
      </dgm:t>
    </dgm:pt>
    <dgm:pt modelId="{BE20B2E4-23CE-439C-9486-D210C664F430}" type="parTrans" cxnId="{E233B405-AC8A-435E-97F3-A6666FC7E845}">
      <dgm:prSet/>
      <dgm:spPr/>
      <dgm:t>
        <a:bodyPr/>
        <a:lstStyle/>
        <a:p>
          <a:endParaRPr lang="en-US"/>
        </a:p>
      </dgm:t>
    </dgm:pt>
    <dgm:pt modelId="{405A42C0-FB35-4D53-897C-F00544D17B50}">
      <dgm:prSet phldrT="[Text]"/>
      <dgm:spPr>
        <a:blipFill rotWithShape="0">
          <a:blip xmlns:r="http://schemas.openxmlformats.org/officeDocument/2006/relationships" r:embed="rId3"/>
          <a:stretch>
            <a:fillRect/>
          </a:stretch>
        </a:blipFill>
      </dgm:spPr>
      <dgm:t>
        <a:bodyPr/>
        <a:lstStyle/>
        <a:p>
          <a:endParaRPr lang="en-US" dirty="0"/>
        </a:p>
      </dgm:t>
    </dgm:pt>
    <dgm:pt modelId="{CADC1B86-C7CC-463A-A49C-A976677485B4}" type="sibTrans" cxnId="{ACC70AD7-6AA0-4E42-A897-9B2EB9307ABA}">
      <dgm:prSet/>
      <dgm:spPr/>
      <dgm:t>
        <a:bodyPr/>
        <a:lstStyle/>
        <a:p>
          <a:endParaRPr lang="en-US"/>
        </a:p>
      </dgm:t>
    </dgm:pt>
    <dgm:pt modelId="{D89C01B8-F8D4-4492-AEBA-103587B014CD}" type="parTrans" cxnId="{ACC70AD7-6AA0-4E42-A897-9B2EB9307ABA}">
      <dgm:prSet/>
      <dgm:spPr/>
      <dgm:t>
        <a:bodyPr/>
        <a:lstStyle/>
        <a:p>
          <a:endParaRPr lang="en-US"/>
        </a:p>
      </dgm:t>
    </dgm:pt>
    <dgm:pt modelId="{C800865B-0ED7-4E25-AE29-CFD2E1E6C671}">
      <dgm:prSet phldrT="[Text]"/>
      <dgm:spPr>
        <a:blipFill rotWithShape="0">
          <a:blip xmlns:r="http://schemas.openxmlformats.org/officeDocument/2006/relationships" r:embed="rId4"/>
          <a:stretch>
            <a:fillRect/>
          </a:stretch>
        </a:blipFill>
      </dgm:spPr>
      <dgm:t>
        <a:bodyPr/>
        <a:lstStyle/>
        <a:p>
          <a:endParaRPr lang="en-US" dirty="0"/>
        </a:p>
      </dgm:t>
    </dgm:pt>
    <dgm:pt modelId="{E4DA121B-3657-4197-B978-FB1AE0F55E5C}" type="sibTrans" cxnId="{EDDC0D3A-56AE-4BBA-9E4A-E72EC9AEC211}">
      <dgm:prSet/>
      <dgm:spPr/>
      <dgm:t>
        <a:bodyPr/>
        <a:lstStyle/>
        <a:p>
          <a:endParaRPr lang="en-US"/>
        </a:p>
      </dgm:t>
    </dgm:pt>
    <dgm:pt modelId="{B2B7DBE9-0EE8-485B-9024-2C63421812BE}" type="parTrans" cxnId="{EDDC0D3A-56AE-4BBA-9E4A-E72EC9AEC211}">
      <dgm:prSet/>
      <dgm:spPr/>
      <dgm:t>
        <a:bodyPr/>
        <a:lstStyle/>
        <a:p>
          <a:endParaRPr lang="en-US"/>
        </a:p>
      </dgm:t>
    </dgm:pt>
    <dgm:pt modelId="{33331AA8-792E-4325-9AC9-5402F908741F}" type="pres">
      <dgm:prSet presAssocID="{4CCFFF4A-B848-464D-A030-8C60A011E439}" presName="diagram" presStyleCnt="0">
        <dgm:presLayoutVars>
          <dgm:dir/>
          <dgm:resizeHandles val="exact"/>
        </dgm:presLayoutVars>
      </dgm:prSet>
      <dgm:spPr/>
    </dgm:pt>
    <dgm:pt modelId="{7A66C674-69CA-4096-9B83-F5F5344C30E7}" type="pres">
      <dgm:prSet presAssocID="{BFBB885F-ACB5-4747-8845-0F0527161DC6}" presName="node" presStyleLbl="node1" presStyleIdx="0" presStyleCnt="4">
        <dgm:presLayoutVars>
          <dgm:bulletEnabled val="1"/>
        </dgm:presLayoutVars>
      </dgm:prSet>
      <dgm:spPr/>
      <dgm:t>
        <a:bodyPr/>
        <a:lstStyle/>
        <a:p>
          <a:endParaRPr lang="en-US"/>
        </a:p>
      </dgm:t>
    </dgm:pt>
    <dgm:pt modelId="{4E2D2FBF-7F6A-4693-8E69-07E077BED2BB}" type="pres">
      <dgm:prSet presAssocID="{F21335E1-DC6F-4323-846E-655CB0900E86}" presName="sibTrans" presStyleCnt="0"/>
      <dgm:spPr/>
    </dgm:pt>
    <dgm:pt modelId="{D414411C-BAE1-4335-BAA0-4978EFDF0A78}" type="pres">
      <dgm:prSet presAssocID="{405A42C0-FB35-4D53-897C-F00544D17B50}" presName="node" presStyleLbl="node1" presStyleIdx="1" presStyleCnt="4">
        <dgm:presLayoutVars>
          <dgm:bulletEnabled val="1"/>
        </dgm:presLayoutVars>
      </dgm:prSet>
      <dgm:spPr/>
      <dgm:t>
        <a:bodyPr/>
        <a:lstStyle/>
        <a:p>
          <a:endParaRPr lang="en-US"/>
        </a:p>
      </dgm:t>
    </dgm:pt>
    <dgm:pt modelId="{BD571E84-6642-4802-82D3-AA67E9EDFBF8}" type="pres">
      <dgm:prSet presAssocID="{CADC1B86-C7CC-463A-A49C-A976677485B4}" presName="sibTrans" presStyleCnt="0"/>
      <dgm:spPr/>
    </dgm:pt>
    <dgm:pt modelId="{C5E82495-FEE6-4B40-BBEC-E3AF4AB7CF41}" type="pres">
      <dgm:prSet presAssocID="{C800865B-0ED7-4E25-AE29-CFD2E1E6C671}" presName="node" presStyleLbl="node1" presStyleIdx="2" presStyleCnt="4">
        <dgm:presLayoutVars>
          <dgm:bulletEnabled val="1"/>
        </dgm:presLayoutVars>
      </dgm:prSet>
      <dgm:spPr/>
      <dgm:t>
        <a:bodyPr/>
        <a:lstStyle/>
        <a:p>
          <a:endParaRPr lang="en-US"/>
        </a:p>
      </dgm:t>
    </dgm:pt>
    <dgm:pt modelId="{F4D93F73-1327-4383-82F9-EF9FE27E5B14}" type="pres">
      <dgm:prSet presAssocID="{E4DA121B-3657-4197-B978-FB1AE0F55E5C}" presName="sibTrans" presStyleCnt="0"/>
      <dgm:spPr/>
    </dgm:pt>
    <dgm:pt modelId="{9A2B3C05-A5C7-48C8-9AF1-FC21E96D96EB}" type="pres">
      <dgm:prSet presAssocID="{74751CA4-5967-41B2-A226-07C1635AEEE9}" presName="node" presStyleLbl="node1" presStyleIdx="3" presStyleCnt="4">
        <dgm:presLayoutVars>
          <dgm:bulletEnabled val="1"/>
        </dgm:presLayoutVars>
      </dgm:prSet>
      <dgm:spPr/>
      <dgm:t>
        <a:bodyPr/>
        <a:lstStyle/>
        <a:p>
          <a:endParaRPr lang="en-US"/>
        </a:p>
      </dgm:t>
    </dgm:pt>
  </dgm:ptLst>
  <dgm:cxnLst>
    <dgm:cxn modelId="{F794F084-7EB4-4306-83C8-8998C0FF0B27}" type="presOf" srcId="{BFBB885F-ACB5-4747-8845-0F0527161DC6}" destId="{7A66C674-69CA-4096-9B83-F5F5344C30E7}" srcOrd="0" destOrd="0" presId="urn:microsoft.com/office/officeart/2005/8/layout/default"/>
    <dgm:cxn modelId="{61FFD6BA-6488-4F94-A689-7E567B00D9D8}" type="presOf" srcId="{4CCFFF4A-B848-464D-A030-8C60A011E439}" destId="{33331AA8-792E-4325-9AC9-5402F908741F}" srcOrd="0" destOrd="0" presId="urn:microsoft.com/office/officeart/2005/8/layout/default"/>
    <dgm:cxn modelId="{91A4CB8D-9F0A-4AF6-8338-04D0CDB843E6}" type="presOf" srcId="{405A42C0-FB35-4D53-897C-F00544D17B50}" destId="{D414411C-BAE1-4335-BAA0-4978EFDF0A78}" srcOrd="0" destOrd="0" presId="urn:microsoft.com/office/officeart/2005/8/layout/default"/>
    <dgm:cxn modelId="{AE9968B8-E5F5-47E8-9C80-E66E53057843}" type="presOf" srcId="{74751CA4-5967-41B2-A226-07C1635AEEE9}" destId="{9A2B3C05-A5C7-48C8-9AF1-FC21E96D96EB}" srcOrd="0" destOrd="0" presId="urn:microsoft.com/office/officeart/2005/8/layout/default"/>
    <dgm:cxn modelId="{12874C71-1718-4712-87EF-BEAF83455510}" srcId="{4CCFFF4A-B848-464D-A030-8C60A011E439}" destId="{74751CA4-5967-41B2-A226-07C1635AEEE9}" srcOrd="3" destOrd="0" parTransId="{6914DDAF-3238-4564-B53C-D132EE855E09}" sibTransId="{33EC01D3-8CF0-4F41-8567-AE18E4AFC513}"/>
    <dgm:cxn modelId="{9CB0D3FB-9A4E-4DE4-92B9-49A42DE2E928}" type="presOf" srcId="{C800865B-0ED7-4E25-AE29-CFD2E1E6C671}" destId="{C5E82495-FEE6-4B40-BBEC-E3AF4AB7CF41}" srcOrd="0" destOrd="0" presId="urn:microsoft.com/office/officeart/2005/8/layout/default"/>
    <dgm:cxn modelId="{ACC70AD7-6AA0-4E42-A897-9B2EB9307ABA}" srcId="{4CCFFF4A-B848-464D-A030-8C60A011E439}" destId="{405A42C0-FB35-4D53-897C-F00544D17B50}" srcOrd="1" destOrd="0" parTransId="{D89C01B8-F8D4-4492-AEBA-103587B014CD}" sibTransId="{CADC1B86-C7CC-463A-A49C-A976677485B4}"/>
    <dgm:cxn modelId="{EDDC0D3A-56AE-4BBA-9E4A-E72EC9AEC211}" srcId="{4CCFFF4A-B848-464D-A030-8C60A011E439}" destId="{C800865B-0ED7-4E25-AE29-CFD2E1E6C671}" srcOrd="2" destOrd="0" parTransId="{B2B7DBE9-0EE8-485B-9024-2C63421812BE}" sibTransId="{E4DA121B-3657-4197-B978-FB1AE0F55E5C}"/>
    <dgm:cxn modelId="{E233B405-AC8A-435E-97F3-A6666FC7E845}" srcId="{4CCFFF4A-B848-464D-A030-8C60A011E439}" destId="{BFBB885F-ACB5-4747-8845-0F0527161DC6}" srcOrd="0" destOrd="0" parTransId="{BE20B2E4-23CE-439C-9486-D210C664F430}" sibTransId="{F21335E1-DC6F-4323-846E-655CB0900E86}"/>
    <dgm:cxn modelId="{2B2AA8B4-681D-4313-9D85-35BABE1E17DC}" type="presParOf" srcId="{33331AA8-792E-4325-9AC9-5402F908741F}" destId="{7A66C674-69CA-4096-9B83-F5F5344C30E7}" srcOrd="0" destOrd="0" presId="urn:microsoft.com/office/officeart/2005/8/layout/default"/>
    <dgm:cxn modelId="{A1EF28C5-CF94-4878-B831-08947BCC6403}" type="presParOf" srcId="{33331AA8-792E-4325-9AC9-5402F908741F}" destId="{4E2D2FBF-7F6A-4693-8E69-07E077BED2BB}" srcOrd="1" destOrd="0" presId="urn:microsoft.com/office/officeart/2005/8/layout/default"/>
    <dgm:cxn modelId="{88DB8745-61F0-4D1E-A77B-E4D749F17A1C}" type="presParOf" srcId="{33331AA8-792E-4325-9AC9-5402F908741F}" destId="{D414411C-BAE1-4335-BAA0-4978EFDF0A78}" srcOrd="2" destOrd="0" presId="urn:microsoft.com/office/officeart/2005/8/layout/default"/>
    <dgm:cxn modelId="{11E6B395-E6DE-4FFE-B29E-0D52EC6C4429}" type="presParOf" srcId="{33331AA8-792E-4325-9AC9-5402F908741F}" destId="{BD571E84-6642-4802-82D3-AA67E9EDFBF8}" srcOrd="3" destOrd="0" presId="urn:microsoft.com/office/officeart/2005/8/layout/default"/>
    <dgm:cxn modelId="{2432FDDE-3900-41D3-9053-80EC573650A7}" type="presParOf" srcId="{33331AA8-792E-4325-9AC9-5402F908741F}" destId="{C5E82495-FEE6-4B40-BBEC-E3AF4AB7CF41}" srcOrd="4" destOrd="0" presId="urn:microsoft.com/office/officeart/2005/8/layout/default"/>
    <dgm:cxn modelId="{5250E8E2-1FAE-4C03-941E-B2E8A3F5F8ED}" type="presParOf" srcId="{33331AA8-792E-4325-9AC9-5402F908741F}" destId="{F4D93F73-1327-4383-82F9-EF9FE27E5B14}" srcOrd="5" destOrd="0" presId="urn:microsoft.com/office/officeart/2005/8/layout/default"/>
    <dgm:cxn modelId="{A58EE720-C7ED-48EE-9AA0-9AB11859D8FA}" type="presParOf" srcId="{33331AA8-792E-4325-9AC9-5402F908741F}" destId="{9A2B3C05-A5C7-48C8-9AF1-FC21E96D96E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66C674-69CA-4096-9B83-F5F5344C30E7}">
      <dsp:nvSpPr>
        <dsp:cNvPr id="0" name=""/>
        <dsp:cNvSpPr/>
      </dsp:nvSpPr>
      <dsp:spPr>
        <a:xfrm>
          <a:off x="1529934" y="5488"/>
          <a:ext cx="7142633" cy="4285580"/>
        </a:xfrm>
        <a:prstGeom prst="rect">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endParaRPr lang="en-US" sz="6500" kern="1200" dirty="0"/>
        </a:p>
      </dsp:txBody>
      <dsp:txXfrm>
        <a:off x="1529934" y="5488"/>
        <a:ext cx="7142633" cy="4285580"/>
      </dsp:txXfrm>
    </dsp:sp>
    <dsp:sp modelId="{D414411C-BAE1-4335-BAA0-4978EFDF0A78}">
      <dsp:nvSpPr>
        <dsp:cNvPr id="0" name=""/>
        <dsp:cNvSpPr/>
      </dsp:nvSpPr>
      <dsp:spPr>
        <a:xfrm>
          <a:off x="9386831" y="5488"/>
          <a:ext cx="7142633" cy="4285580"/>
        </a:xfrm>
        <a:prstGeom prst="rect">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endParaRPr lang="en-US" sz="6500" kern="1200" dirty="0"/>
        </a:p>
      </dsp:txBody>
      <dsp:txXfrm>
        <a:off x="9386831" y="5488"/>
        <a:ext cx="7142633" cy="4285580"/>
      </dsp:txXfrm>
    </dsp:sp>
    <dsp:sp modelId="{C5E82495-FEE6-4B40-BBEC-E3AF4AB7CF41}">
      <dsp:nvSpPr>
        <dsp:cNvPr id="0" name=""/>
        <dsp:cNvSpPr/>
      </dsp:nvSpPr>
      <dsp:spPr>
        <a:xfrm>
          <a:off x="1529934" y="5005331"/>
          <a:ext cx="7142633" cy="4285580"/>
        </a:xfrm>
        <a:prstGeom prst="rect">
          <a:avLst/>
        </a:prstGeom>
        <a:blipFill rotWithShape="0">
          <a:blip xmlns:r="http://schemas.openxmlformats.org/officeDocument/2006/relationships" r:embed="rId3"/>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endParaRPr lang="en-US" sz="6500" kern="1200" dirty="0"/>
        </a:p>
      </dsp:txBody>
      <dsp:txXfrm>
        <a:off x="1529934" y="5005331"/>
        <a:ext cx="7142633" cy="4285580"/>
      </dsp:txXfrm>
    </dsp:sp>
    <dsp:sp modelId="{9A2B3C05-A5C7-48C8-9AF1-FC21E96D96EB}">
      <dsp:nvSpPr>
        <dsp:cNvPr id="0" name=""/>
        <dsp:cNvSpPr/>
      </dsp:nvSpPr>
      <dsp:spPr>
        <a:xfrm>
          <a:off x="9386831" y="5005331"/>
          <a:ext cx="7142633" cy="4285580"/>
        </a:xfrm>
        <a:prstGeom prst="rect">
          <a:avLst/>
        </a:prstGeom>
        <a:blipFill rotWithShape="0">
          <a:blip xmlns:r="http://schemas.openxmlformats.org/officeDocument/2006/relationships" r:embed="rId4"/>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endParaRPr lang="en-US" sz="6500" kern="1200" dirty="0"/>
        </a:p>
      </dsp:txBody>
      <dsp:txXfrm>
        <a:off x="9386831" y="5005331"/>
        <a:ext cx="7142633" cy="428558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623B3-0347-492D-A6CB-44F67F9EADF3}" type="datetimeFigureOut">
              <a:rPr lang="en-US" smtClean="0"/>
              <a:t>9/27/2023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2721C6-7E8E-445A-B5A4-1419E1617D58}" type="slidenum">
              <a:rPr lang="en-US" smtClean="0"/>
              <a:t>‹#›</a:t>
            </a:fld>
            <a:endParaRPr lang="en-US"/>
          </a:p>
        </p:txBody>
      </p:sp>
    </p:spTree>
    <p:extLst>
      <p:ext uri="{BB962C8B-B14F-4D97-AF65-F5344CB8AC3E}">
        <p14:creationId xmlns:p14="http://schemas.microsoft.com/office/powerpoint/2010/main" val="3397758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A520"/>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040" b="27701"/>
          <a:stretch/>
        </p:blipFill>
        <p:spPr>
          <a:xfrm>
            <a:off x="-1" y="-266699"/>
            <a:ext cx="18288000" cy="10553698"/>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1500462072"/>
              </p:ext>
            </p:extLst>
          </p:nvPr>
        </p:nvGraphicFramePr>
        <p:xfrm>
          <a:off x="-3" y="342900"/>
          <a:ext cx="18288004" cy="9944100"/>
        </p:xfrm>
        <a:graphic>
          <a:graphicData uri="http://schemas.openxmlformats.org/drawingml/2006/table">
            <a:tbl>
              <a:tblPr firstRow="1" bandRow="1">
                <a:tableStyleId>{2D5ABB26-0587-4C30-8999-92F81FD0307C}</a:tableStyleId>
              </a:tblPr>
              <a:tblGrid>
                <a:gridCol w="2612572">
                  <a:extLst>
                    <a:ext uri="{9D8B030D-6E8A-4147-A177-3AD203B41FA5}">
                      <a16:colId xmlns:a16="http://schemas.microsoft.com/office/drawing/2014/main" val="538264282"/>
                    </a:ext>
                  </a:extLst>
                </a:gridCol>
                <a:gridCol w="2612572">
                  <a:extLst>
                    <a:ext uri="{9D8B030D-6E8A-4147-A177-3AD203B41FA5}">
                      <a16:colId xmlns:a16="http://schemas.microsoft.com/office/drawing/2014/main" val="3358658188"/>
                    </a:ext>
                  </a:extLst>
                </a:gridCol>
                <a:gridCol w="2612572">
                  <a:extLst>
                    <a:ext uri="{9D8B030D-6E8A-4147-A177-3AD203B41FA5}">
                      <a16:colId xmlns:a16="http://schemas.microsoft.com/office/drawing/2014/main" val="937413009"/>
                    </a:ext>
                  </a:extLst>
                </a:gridCol>
                <a:gridCol w="2612572">
                  <a:extLst>
                    <a:ext uri="{9D8B030D-6E8A-4147-A177-3AD203B41FA5}">
                      <a16:colId xmlns:a16="http://schemas.microsoft.com/office/drawing/2014/main" val="3077826614"/>
                    </a:ext>
                  </a:extLst>
                </a:gridCol>
                <a:gridCol w="2612572">
                  <a:extLst>
                    <a:ext uri="{9D8B030D-6E8A-4147-A177-3AD203B41FA5}">
                      <a16:colId xmlns:a16="http://schemas.microsoft.com/office/drawing/2014/main" val="3630917048"/>
                    </a:ext>
                  </a:extLst>
                </a:gridCol>
                <a:gridCol w="2612572">
                  <a:extLst>
                    <a:ext uri="{9D8B030D-6E8A-4147-A177-3AD203B41FA5}">
                      <a16:colId xmlns:a16="http://schemas.microsoft.com/office/drawing/2014/main" val="982378350"/>
                    </a:ext>
                  </a:extLst>
                </a:gridCol>
                <a:gridCol w="2612572">
                  <a:extLst>
                    <a:ext uri="{9D8B030D-6E8A-4147-A177-3AD203B41FA5}">
                      <a16:colId xmlns:a16="http://schemas.microsoft.com/office/drawing/2014/main" val="769458648"/>
                    </a:ext>
                  </a:extLst>
                </a:gridCol>
              </a:tblGrid>
              <a:tr h="165735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110781335"/>
                  </a:ext>
                </a:extLst>
              </a:tr>
              <a:tr h="1657350">
                <a:tc>
                  <a:txBody>
                    <a:bodyPr/>
                    <a:lstStyle/>
                    <a:p>
                      <a:endParaRPr lang="en-US" dirty="0"/>
                    </a:p>
                  </a:txBody>
                  <a:tcPr>
                    <a:solidFill>
                      <a:srgbClr val="CEAF3E"/>
                    </a:solidFill>
                  </a:tcPr>
                </a:tc>
                <a:tc>
                  <a:txBody>
                    <a:bodyPr/>
                    <a:lstStyle/>
                    <a:p>
                      <a:endParaRPr lang="en-US"/>
                    </a:p>
                  </a:txBody>
                  <a:tcPr>
                    <a:solidFill>
                      <a:srgbClr val="CEAF3E"/>
                    </a:solidFill>
                  </a:tcPr>
                </a:tc>
                <a:tc>
                  <a:txBody>
                    <a:bodyPr/>
                    <a:lstStyle/>
                    <a:p>
                      <a:endParaRPr lang="en-US"/>
                    </a:p>
                  </a:txBody>
                  <a:tcPr>
                    <a:solidFill>
                      <a:srgbClr val="CEAF3E"/>
                    </a:solidFill>
                  </a:tcPr>
                </a:tc>
                <a:tc>
                  <a:txBody>
                    <a:bodyPr/>
                    <a:lstStyle/>
                    <a:p>
                      <a:endParaRPr lang="en-US" dirty="0"/>
                    </a:p>
                  </a:txBody>
                  <a:tcPr>
                    <a:solidFill>
                      <a:srgbClr val="CEAF3E"/>
                    </a:solidFill>
                  </a:tcPr>
                </a:tc>
                <a:tc>
                  <a:txBody>
                    <a:bodyPr/>
                    <a:lstStyle/>
                    <a:p>
                      <a:endParaRPr lang="en-US"/>
                    </a:p>
                  </a:txBody>
                  <a:tcPr/>
                </a:tc>
                <a:tc>
                  <a:txBody>
                    <a:bodyPr/>
                    <a:lstStyle/>
                    <a:p>
                      <a:endParaRPr lang="en-US"/>
                    </a:p>
                  </a:txBody>
                  <a:tcPr/>
                </a:tc>
                <a:tc>
                  <a:txBody>
                    <a:bodyPr/>
                    <a:lstStyle/>
                    <a:p>
                      <a:endParaRPr lang="en-US" dirty="0"/>
                    </a:p>
                  </a:txBody>
                  <a:tcPr>
                    <a:solidFill>
                      <a:srgbClr val="CEAF3E"/>
                    </a:solidFill>
                  </a:tcPr>
                </a:tc>
                <a:extLst>
                  <a:ext uri="{0D108BD9-81ED-4DB2-BD59-A6C34878D82A}">
                    <a16:rowId xmlns:a16="http://schemas.microsoft.com/office/drawing/2014/main" val="3964673093"/>
                  </a:ext>
                </a:extLst>
              </a:tr>
              <a:tr h="1657350">
                <a:tc>
                  <a:txBody>
                    <a:bodyPr/>
                    <a:lstStyle/>
                    <a:p>
                      <a:endParaRPr lang="en-US" dirty="0"/>
                    </a:p>
                  </a:txBody>
                  <a:tcPr>
                    <a:solidFill>
                      <a:srgbClr val="CEAF3E"/>
                    </a:solidFill>
                  </a:tcPr>
                </a:tc>
                <a:tc>
                  <a:txBody>
                    <a:bodyPr/>
                    <a:lstStyle/>
                    <a:p>
                      <a:endParaRPr lang="en-US"/>
                    </a:p>
                  </a:txBody>
                  <a:tcPr>
                    <a:solidFill>
                      <a:srgbClr val="CEAF3E"/>
                    </a:solidFill>
                  </a:tcPr>
                </a:tc>
                <a:tc>
                  <a:txBody>
                    <a:bodyPr/>
                    <a:lstStyle/>
                    <a:p>
                      <a:endParaRPr lang="en-US"/>
                    </a:p>
                  </a:txBody>
                  <a:tcPr>
                    <a:solidFill>
                      <a:srgbClr val="CEAF3E"/>
                    </a:solidFill>
                  </a:tcPr>
                </a:tc>
                <a:tc>
                  <a:txBody>
                    <a:bodyPr/>
                    <a:lstStyle/>
                    <a:p>
                      <a:endParaRPr lang="en-US"/>
                    </a:p>
                  </a:txBody>
                  <a:tcPr>
                    <a:solidFill>
                      <a:srgbClr val="CEAF3E"/>
                    </a:solidFill>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2749996"/>
                  </a:ext>
                </a:extLst>
              </a:tr>
              <a:tr h="1657350">
                <a:tc>
                  <a:txBody>
                    <a:bodyPr/>
                    <a:lstStyle/>
                    <a:p>
                      <a:endParaRPr lang="en-US" dirty="0"/>
                    </a:p>
                  </a:txBody>
                  <a:tcPr>
                    <a:solidFill>
                      <a:srgbClr val="CEAF3E"/>
                    </a:solidFill>
                  </a:tcPr>
                </a:tc>
                <a:tc>
                  <a:txBody>
                    <a:bodyPr/>
                    <a:lstStyle/>
                    <a:p>
                      <a:endParaRPr lang="en-US" dirty="0"/>
                    </a:p>
                  </a:txBody>
                  <a:tcPr>
                    <a:solidFill>
                      <a:srgbClr val="CEAF3E"/>
                    </a:solidFill>
                  </a:tcPr>
                </a:tc>
                <a:tc>
                  <a:txBody>
                    <a:bodyPr/>
                    <a:lstStyle/>
                    <a:p>
                      <a:endParaRPr lang="en-US" dirty="0"/>
                    </a:p>
                  </a:txBody>
                  <a:tcPr>
                    <a:solidFill>
                      <a:srgbClr val="CEAF3E"/>
                    </a:solidFill>
                  </a:tcPr>
                </a:tc>
                <a:tc>
                  <a:txBody>
                    <a:bodyPr/>
                    <a:lstStyle/>
                    <a:p>
                      <a:endParaRPr lang="en-US" dirty="0"/>
                    </a:p>
                  </a:txBody>
                  <a:tcPr>
                    <a:solidFill>
                      <a:srgbClr val="CEAF3E"/>
                    </a:solidFill>
                  </a:tcPr>
                </a:tc>
                <a:tc>
                  <a:txBody>
                    <a:bodyPr/>
                    <a:lstStyle/>
                    <a:p>
                      <a:endParaRPr lang="en-US"/>
                    </a:p>
                  </a:txBody>
                  <a:tcPr/>
                </a:tc>
                <a:tc>
                  <a:txBody>
                    <a:bodyPr/>
                    <a:lstStyle/>
                    <a:p>
                      <a:endParaRPr lang="en-US" dirty="0"/>
                    </a:p>
                  </a:txBody>
                  <a:tcPr>
                    <a:solidFill>
                      <a:srgbClr val="CEAF3E"/>
                    </a:solidFill>
                  </a:tcPr>
                </a:tc>
                <a:tc>
                  <a:txBody>
                    <a:bodyPr/>
                    <a:lstStyle/>
                    <a:p>
                      <a:endParaRPr lang="en-US"/>
                    </a:p>
                  </a:txBody>
                  <a:tcPr/>
                </a:tc>
                <a:extLst>
                  <a:ext uri="{0D108BD9-81ED-4DB2-BD59-A6C34878D82A}">
                    <a16:rowId xmlns:a16="http://schemas.microsoft.com/office/drawing/2014/main" val="857360639"/>
                  </a:ext>
                </a:extLst>
              </a:tr>
              <a:tr h="1657350">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21617479"/>
                  </a:ext>
                </a:extLst>
              </a:tr>
              <a:tr h="1657350">
                <a:tc>
                  <a:txBody>
                    <a:bodyPr/>
                    <a:lstStyle/>
                    <a:p>
                      <a:endParaRPr lang="en-US"/>
                    </a:p>
                  </a:txBody>
                  <a:tcPr/>
                </a:tc>
                <a:tc>
                  <a:txBody>
                    <a:bodyPr/>
                    <a:lstStyle/>
                    <a:p>
                      <a:endParaRPr lang="en-US"/>
                    </a:p>
                  </a:txBody>
                  <a:tcPr/>
                </a:tc>
                <a:tc>
                  <a:txBody>
                    <a:bodyPr/>
                    <a:lstStyle/>
                    <a:p>
                      <a:endParaRPr lang="en-US" dirty="0"/>
                    </a:p>
                  </a:txBody>
                  <a:tcPr>
                    <a:solidFill>
                      <a:srgbClr val="CEAF3E"/>
                    </a:solidFill>
                  </a:tcPr>
                </a:tc>
                <a:tc>
                  <a:txBody>
                    <a:bodyPr/>
                    <a:lstStyle/>
                    <a:p>
                      <a:endParaRPr lang="en-US" dirty="0"/>
                    </a:p>
                  </a:txBody>
                  <a:tcPr/>
                </a:tc>
                <a:tc>
                  <a:txBody>
                    <a:bodyPr/>
                    <a:lstStyle/>
                    <a:p>
                      <a:endParaRPr lang="en-US"/>
                    </a:p>
                  </a:txBody>
                  <a:tcPr/>
                </a:tc>
                <a:tc>
                  <a:txBody>
                    <a:bodyPr/>
                    <a:lstStyle/>
                    <a:p>
                      <a:endParaRPr lang="en-US" dirty="0"/>
                    </a:p>
                  </a:txBody>
                  <a:tcPr>
                    <a:solidFill>
                      <a:srgbClr val="CEAF3E"/>
                    </a:solidFill>
                  </a:tcPr>
                </a:tc>
                <a:tc>
                  <a:txBody>
                    <a:bodyPr/>
                    <a:lstStyle/>
                    <a:p>
                      <a:endParaRPr lang="en-US" dirty="0"/>
                    </a:p>
                  </a:txBody>
                  <a:tcPr>
                    <a:solidFill>
                      <a:srgbClr val="CEAF3E"/>
                    </a:solidFill>
                  </a:tcPr>
                </a:tc>
                <a:extLst>
                  <a:ext uri="{0D108BD9-81ED-4DB2-BD59-A6C34878D82A}">
                    <a16:rowId xmlns:a16="http://schemas.microsoft.com/office/drawing/2014/main" val="2024954730"/>
                  </a:ext>
                </a:extLst>
              </a:tr>
            </a:tbl>
          </a:graphicData>
        </a:graphic>
      </p:graphicFrame>
      <p:sp>
        <p:nvSpPr>
          <p:cNvPr id="4" name="TextBox 3"/>
          <p:cNvSpPr txBox="1"/>
          <p:nvPr/>
        </p:nvSpPr>
        <p:spPr>
          <a:xfrm>
            <a:off x="415636" y="2247900"/>
            <a:ext cx="9906000" cy="2308324"/>
          </a:xfrm>
          <a:prstGeom prst="rect">
            <a:avLst/>
          </a:prstGeom>
          <a:noFill/>
        </p:spPr>
        <p:txBody>
          <a:bodyPr wrap="square" rtlCol="0">
            <a:spAutoFit/>
          </a:bodyPr>
          <a:lstStyle/>
          <a:p>
            <a:r>
              <a:rPr lang="en-US" sz="7200" dirty="0">
                <a:solidFill>
                  <a:srgbClr val="FFFFFF"/>
                </a:solidFill>
                <a:latin typeface="Canva Sans Bold"/>
              </a:rPr>
              <a:t>HEALTH PROMOTION (SCP 872) </a:t>
            </a:r>
          </a:p>
        </p:txBody>
      </p:sp>
      <p:sp>
        <p:nvSpPr>
          <p:cNvPr id="5" name="TextBox 4"/>
          <p:cNvSpPr txBox="1"/>
          <p:nvPr/>
        </p:nvSpPr>
        <p:spPr>
          <a:xfrm>
            <a:off x="415636" y="4606447"/>
            <a:ext cx="8610600" cy="1569660"/>
          </a:xfrm>
          <a:prstGeom prst="rect">
            <a:avLst/>
          </a:prstGeom>
          <a:noFill/>
        </p:spPr>
        <p:txBody>
          <a:bodyPr wrap="square" rtlCol="0">
            <a:spAutoFit/>
          </a:bodyPr>
          <a:lstStyle/>
          <a:p>
            <a:r>
              <a:rPr lang="en-US" sz="3200" dirty="0">
                <a:solidFill>
                  <a:schemeClr val="bg1"/>
                </a:solidFill>
                <a:latin typeface="DM Sans"/>
              </a:rPr>
              <a:t>Intervention Plan: Decrease HIV Infection among Men Who Sleep with Men and Transgender </a:t>
            </a:r>
            <a:r>
              <a:rPr lang="en-US" sz="3200" dirty="0" smtClean="0">
                <a:solidFill>
                  <a:schemeClr val="bg1"/>
                </a:solidFill>
                <a:latin typeface="DM Sans"/>
              </a:rPr>
              <a:t>Women</a:t>
            </a:r>
            <a:endParaRPr lang="en-US" sz="3200" dirty="0">
              <a:solidFill>
                <a:schemeClr val="bg1"/>
              </a:solidFill>
              <a:latin typeface="DM Sans"/>
            </a:endParaRPr>
          </a:p>
        </p:txBody>
      </p:sp>
      <p:sp>
        <p:nvSpPr>
          <p:cNvPr id="6" name="TextBox 5"/>
          <p:cNvSpPr txBox="1"/>
          <p:nvPr/>
        </p:nvSpPr>
        <p:spPr>
          <a:xfrm>
            <a:off x="13335000" y="9040504"/>
            <a:ext cx="4689104" cy="830997"/>
          </a:xfrm>
          <a:prstGeom prst="rect">
            <a:avLst/>
          </a:prstGeom>
          <a:noFill/>
        </p:spPr>
        <p:txBody>
          <a:bodyPr wrap="none" rtlCol="0">
            <a:spAutoFit/>
          </a:bodyPr>
          <a:lstStyle/>
          <a:p>
            <a:r>
              <a:rPr lang="nl-NL" sz="2400" dirty="0">
                <a:solidFill>
                  <a:schemeClr val="bg1"/>
                </a:solidFill>
                <a:latin typeface="DM Sans"/>
              </a:rPr>
              <a:t>Student name: Sthabiso Bohlela</a:t>
            </a:r>
          </a:p>
          <a:p>
            <a:r>
              <a:rPr lang="nl-NL" sz="2400" dirty="0">
                <a:solidFill>
                  <a:schemeClr val="bg1"/>
                </a:solidFill>
                <a:latin typeface="DM Sans"/>
              </a:rPr>
              <a:t>Student no: </a:t>
            </a:r>
            <a:r>
              <a:rPr lang="nl-NL" sz="2400" dirty="0" smtClean="0">
                <a:solidFill>
                  <a:schemeClr val="bg1"/>
                </a:solidFill>
                <a:latin typeface="DM Sans"/>
              </a:rPr>
              <a:t>u22680642</a:t>
            </a:r>
            <a:endParaRPr lang="nl-NL" sz="2400" dirty="0">
              <a:solidFill>
                <a:schemeClr val="bg1"/>
              </a:solidFill>
              <a:latin typeface="DM Sans"/>
            </a:endParaRPr>
          </a:p>
        </p:txBody>
      </p:sp>
      <p:sp>
        <p:nvSpPr>
          <p:cNvPr id="7" name="Rectangle 6"/>
          <p:cNvSpPr/>
          <p:nvPr/>
        </p:nvSpPr>
        <p:spPr>
          <a:xfrm>
            <a:off x="1935525" y="214987"/>
            <a:ext cx="9144000" cy="1569660"/>
          </a:xfrm>
          <a:prstGeom prst="rect">
            <a:avLst/>
          </a:prstGeom>
        </p:spPr>
        <p:txBody>
          <a:bodyPr>
            <a:spAutoFit/>
          </a:bodyPr>
          <a:lstStyle/>
          <a:p>
            <a:r>
              <a:rPr lang="en-US" sz="3200" dirty="0">
                <a:solidFill>
                  <a:schemeClr val="bg1"/>
                </a:solidFill>
              </a:rPr>
              <a:t>University of Pretoria	</a:t>
            </a:r>
          </a:p>
          <a:p>
            <a:r>
              <a:rPr lang="en-US" sz="3200" dirty="0">
                <a:solidFill>
                  <a:schemeClr val="bg1"/>
                </a:solidFill>
              </a:rPr>
              <a:t>Faculty of Health Sciences</a:t>
            </a:r>
          </a:p>
          <a:p>
            <a:r>
              <a:rPr lang="en-US" sz="3200" dirty="0">
                <a:solidFill>
                  <a:schemeClr val="bg1"/>
                </a:solidFill>
              </a:rPr>
              <a:t>School of Health Systems &amp; Public Health</a:t>
            </a:r>
          </a:p>
        </p:txBody>
      </p:sp>
      <p:pic>
        <p:nvPicPr>
          <p:cNvPr id="8" name="Picture 7"/>
          <p:cNvPicPr>
            <a:picLocks noChangeAspect="1"/>
          </p:cNvPicPr>
          <p:nvPr/>
        </p:nvPicPr>
        <p:blipFill>
          <a:blip r:embed="rId3"/>
          <a:stretch>
            <a:fillRect/>
          </a:stretch>
        </p:blipFill>
        <p:spPr>
          <a:xfrm>
            <a:off x="350474" y="58882"/>
            <a:ext cx="1585051" cy="1585051"/>
          </a:xfrm>
          <a:prstGeom prst="rect">
            <a:avLst/>
          </a:prstGeom>
        </p:spPr>
      </p:pic>
    </p:spTree>
    <p:extLst>
      <p:ext uri="{BB962C8B-B14F-4D97-AF65-F5344CB8AC3E}">
        <p14:creationId xmlns:p14="http://schemas.microsoft.com/office/powerpoint/2010/main" val="301038938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EAF3E"/>
        </a:solidFill>
        <a:effectLst/>
      </p:bgPr>
    </p:bg>
    <p:spTree>
      <p:nvGrpSpPr>
        <p:cNvPr id="1" name=""/>
        <p:cNvGrpSpPr/>
        <p:nvPr/>
      </p:nvGrpSpPr>
      <p:grpSpPr>
        <a:xfrm>
          <a:off x="0" y="0"/>
          <a:ext cx="0" cy="0"/>
          <a:chOff x="0" y="0"/>
          <a:chExt cx="0" cy="0"/>
        </a:xfrm>
      </p:grpSpPr>
      <p:sp>
        <p:nvSpPr>
          <p:cNvPr id="14" name="Freeform 14"/>
          <p:cNvSpPr/>
          <p:nvPr/>
        </p:nvSpPr>
        <p:spPr>
          <a:xfrm rot="1095156">
            <a:off x="-4098793" y="-4550300"/>
            <a:ext cx="7891968" cy="7891968"/>
          </a:xfrm>
          <a:custGeom>
            <a:avLst/>
            <a:gdLst/>
            <a:ahLst/>
            <a:cxnLst/>
            <a:rect l="l" t="t" r="r" b="b"/>
            <a:pathLst>
              <a:path w="7891968" h="7891968">
                <a:moveTo>
                  <a:pt x="0" y="0"/>
                </a:moveTo>
                <a:lnTo>
                  <a:pt x="7891967" y="0"/>
                </a:lnTo>
                <a:lnTo>
                  <a:pt x="7891967" y="7891967"/>
                </a:lnTo>
                <a:lnTo>
                  <a:pt x="0" y="789196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1" name="Freeform 31"/>
          <p:cNvSpPr/>
          <p:nvPr/>
        </p:nvSpPr>
        <p:spPr>
          <a:xfrm rot="1095156">
            <a:off x="14074237" y="7160484"/>
            <a:ext cx="7891968" cy="7891968"/>
          </a:xfrm>
          <a:custGeom>
            <a:avLst/>
            <a:gdLst/>
            <a:ahLst/>
            <a:cxnLst/>
            <a:rect l="l" t="t" r="r" b="b"/>
            <a:pathLst>
              <a:path w="7891968" h="7891968">
                <a:moveTo>
                  <a:pt x="0" y="0"/>
                </a:moveTo>
                <a:lnTo>
                  <a:pt x="7891967" y="0"/>
                </a:lnTo>
                <a:lnTo>
                  <a:pt x="7891967" y="7891967"/>
                </a:lnTo>
                <a:lnTo>
                  <a:pt x="0" y="789196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2" name="TextBox 32"/>
          <p:cNvSpPr txBox="1"/>
          <p:nvPr/>
        </p:nvSpPr>
        <p:spPr>
          <a:xfrm>
            <a:off x="3252151" y="4536612"/>
            <a:ext cx="6272849" cy="4024628"/>
          </a:xfrm>
          <a:prstGeom prst="rect">
            <a:avLst/>
          </a:prstGeom>
        </p:spPr>
        <p:txBody>
          <a:bodyPr wrap="square" lIns="0" tIns="0" rIns="0" bIns="0" rtlCol="0" anchor="t">
            <a:spAutoFit/>
          </a:bodyPr>
          <a:lstStyle/>
          <a:p>
            <a:r>
              <a:rPr lang="en-US" sz="4800" dirty="0" smtClean="0">
                <a:solidFill>
                  <a:schemeClr val="bg1"/>
                </a:solidFill>
                <a:latin typeface="DM Sans"/>
              </a:rPr>
              <a:t>•</a:t>
            </a:r>
            <a:r>
              <a:rPr lang="en-US" sz="4800" dirty="0">
                <a:solidFill>
                  <a:schemeClr val="bg1"/>
                </a:solidFill>
                <a:latin typeface="DM Sans"/>
              </a:rPr>
              <a:t>	Background</a:t>
            </a:r>
          </a:p>
          <a:p>
            <a:r>
              <a:rPr lang="en-US" sz="4800" dirty="0">
                <a:solidFill>
                  <a:schemeClr val="bg1"/>
                </a:solidFill>
                <a:latin typeface="DM Sans"/>
              </a:rPr>
              <a:t>•	Problem</a:t>
            </a:r>
          </a:p>
          <a:p>
            <a:r>
              <a:rPr lang="en-US" sz="4800" dirty="0">
                <a:solidFill>
                  <a:schemeClr val="bg1"/>
                </a:solidFill>
                <a:latin typeface="DM Sans"/>
              </a:rPr>
              <a:t>•	Intervention Plan</a:t>
            </a:r>
          </a:p>
          <a:p>
            <a:r>
              <a:rPr lang="en-US" sz="4800" dirty="0">
                <a:solidFill>
                  <a:schemeClr val="bg1"/>
                </a:solidFill>
                <a:latin typeface="DM Sans"/>
              </a:rPr>
              <a:t>•	Evaluation Plan</a:t>
            </a:r>
          </a:p>
          <a:p>
            <a:r>
              <a:rPr lang="en-US" sz="4800" dirty="0">
                <a:solidFill>
                  <a:schemeClr val="bg1"/>
                </a:solidFill>
                <a:latin typeface="DM Sans"/>
              </a:rPr>
              <a:t>•	Conclusion</a:t>
            </a:r>
          </a:p>
          <a:p>
            <a:pPr algn="ctr"/>
            <a:endParaRPr lang="en-US" sz="2153" dirty="0">
              <a:solidFill>
                <a:srgbClr val="000000"/>
              </a:solidFill>
              <a:latin typeface="DM Sans"/>
            </a:endParaRPr>
          </a:p>
        </p:txBody>
      </p:sp>
      <p:grpSp>
        <p:nvGrpSpPr>
          <p:cNvPr id="39" name="Group 39"/>
          <p:cNvGrpSpPr/>
          <p:nvPr/>
        </p:nvGrpSpPr>
        <p:grpSpPr>
          <a:xfrm>
            <a:off x="13036870" y="-1312917"/>
            <a:ext cx="2625834" cy="2625834"/>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41" name="TextBox 41"/>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grpSp>
        <p:nvGrpSpPr>
          <p:cNvPr id="42" name="Group 42"/>
          <p:cNvGrpSpPr/>
          <p:nvPr/>
        </p:nvGrpSpPr>
        <p:grpSpPr>
          <a:xfrm>
            <a:off x="1752881" y="9161550"/>
            <a:ext cx="2625834" cy="2625834"/>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44" name="TextBox 44"/>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sp>
        <p:nvSpPr>
          <p:cNvPr id="47" name="TextBox 46"/>
          <p:cNvSpPr txBox="1"/>
          <p:nvPr/>
        </p:nvSpPr>
        <p:spPr>
          <a:xfrm>
            <a:off x="3685591" y="2232370"/>
            <a:ext cx="3193503" cy="1015663"/>
          </a:xfrm>
          <a:prstGeom prst="rect">
            <a:avLst/>
          </a:prstGeom>
          <a:noFill/>
        </p:spPr>
        <p:txBody>
          <a:bodyPr wrap="none" rtlCol="0">
            <a:spAutoFit/>
          </a:bodyPr>
          <a:lstStyle/>
          <a:p>
            <a:r>
              <a:rPr lang="en-US" sz="6000" dirty="0" smtClean="0">
                <a:solidFill>
                  <a:schemeClr val="bg1"/>
                </a:solidFill>
                <a:latin typeface="Canva Sans Bold" panose="020B0604020202020204" charset="0"/>
              </a:rPr>
              <a:t>Outline:</a:t>
            </a:r>
            <a:endParaRPr lang="en-US" sz="6000" dirty="0">
              <a:solidFill>
                <a:schemeClr val="bg1"/>
              </a:solidFill>
              <a:latin typeface="Canva Sans Bold" panose="020B060402020202020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EAF3E"/>
        </a:solidFill>
        <a:effectLst/>
      </p:bgPr>
    </p:bg>
    <p:spTree>
      <p:nvGrpSpPr>
        <p:cNvPr id="1" name=""/>
        <p:cNvGrpSpPr/>
        <p:nvPr/>
      </p:nvGrpSpPr>
      <p:grpSpPr>
        <a:xfrm>
          <a:off x="0" y="0"/>
          <a:ext cx="0" cy="0"/>
          <a:chOff x="0" y="0"/>
          <a:chExt cx="0" cy="0"/>
        </a:xfrm>
      </p:grpSpPr>
      <p:grpSp>
        <p:nvGrpSpPr>
          <p:cNvPr id="2" name="Group 2"/>
          <p:cNvGrpSpPr/>
          <p:nvPr/>
        </p:nvGrpSpPr>
        <p:grpSpPr>
          <a:xfrm rot="2380859">
            <a:off x="-1313287" y="7502544"/>
            <a:ext cx="2842082" cy="7461317"/>
            <a:chOff x="0" y="0"/>
            <a:chExt cx="660400" cy="1733748"/>
          </a:xfrm>
        </p:grpSpPr>
        <p:sp>
          <p:nvSpPr>
            <p:cNvPr id="3" name="Freeform 3"/>
            <p:cNvSpPr/>
            <p:nvPr/>
          </p:nvSpPr>
          <p:spPr>
            <a:xfrm>
              <a:off x="0" y="0"/>
              <a:ext cx="660400" cy="1733748"/>
            </a:xfrm>
            <a:custGeom>
              <a:avLst/>
              <a:gdLst/>
              <a:ahLst/>
              <a:cxnLst/>
              <a:rect l="l" t="t" r="r" b="b"/>
              <a:pathLst>
                <a:path w="660400" h="173374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48959"/>
                  </a:cubicBezTo>
                  <a:lnTo>
                    <a:pt x="660400" y="1733748"/>
                  </a:lnTo>
                  <a:lnTo>
                    <a:pt x="0" y="1733748"/>
                  </a:lnTo>
                  <a:lnTo>
                    <a:pt x="0" y="349987"/>
                  </a:lnTo>
                  <a:cubicBezTo>
                    <a:pt x="1782" y="185660"/>
                    <a:pt x="93019" y="64045"/>
                    <a:pt x="220252" y="19070"/>
                  </a:cubicBezTo>
                  <a:close/>
                </a:path>
              </a:pathLst>
            </a:custGeom>
            <a:solidFill>
              <a:srgbClr val="D82706">
                <a:alpha val="43922"/>
              </a:srgbClr>
            </a:solidFill>
          </p:spPr>
        </p:sp>
        <p:sp>
          <p:nvSpPr>
            <p:cNvPr id="4" name="TextBox 4"/>
            <p:cNvSpPr txBox="1"/>
            <p:nvPr/>
          </p:nvSpPr>
          <p:spPr>
            <a:xfrm>
              <a:off x="0" y="98425"/>
              <a:ext cx="660400" cy="714375"/>
            </a:xfrm>
            <a:prstGeom prst="rect">
              <a:avLst/>
            </a:prstGeom>
          </p:spPr>
          <p:txBody>
            <a:bodyPr lIns="50800" tIns="50800" rIns="50800" bIns="50800" rtlCol="0" anchor="ctr"/>
            <a:lstStyle/>
            <a:p>
              <a:pPr algn="ctr">
                <a:lnSpc>
                  <a:spcPts val="2590"/>
                </a:lnSpc>
              </a:pPr>
              <a:endParaRPr/>
            </a:p>
          </p:txBody>
        </p:sp>
      </p:grpSp>
      <p:grpSp>
        <p:nvGrpSpPr>
          <p:cNvPr id="5" name="Group 5"/>
          <p:cNvGrpSpPr/>
          <p:nvPr/>
        </p:nvGrpSpPr>
        <p:grpSpPr>
          <a:xfrm rot="2377137">
            <a:off x="-916789" y="4206328"/>
            <a:ext cx="1338510" cy="7384047"/>
            <a:chOff x="0" y="0"/>
            <a:chExt cx="660400" cy="3643174"/>
          </a:xfrm>
        </p:grpSpPr>
        <p:sp>
          <p:nvSpPr>
            <p:cNvPr id="6" name="Freeform 6"/>
            <p:cNvSpPr/>
            <p:nvPr/>
          </p:nvSpPr>
          <p:spPr>
            <a:xfrm>
              <a:off x="0" y="0"/>
              <a:ext cx="660400" cy="3643174"/>
            </a:xfrm>
            <a:custGeom>
              <a:avLst/>
              <a:gdLst/>
              <a:ahLst/>
              <a:cxnLst/>
              <a:rect l="l" t="t" r="r" b="b"/>
              <a:pathLst>
                <a:path w="660400" h="3643174">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91373"/>
                  </a:cubicBezTo>
                  <a:lnTo>
                    <a:pt x="660400" y="3643174"/>
                  </a:lnTo>
                  <a:lnTo>
                    <a:pt x="0" y="3643174"/>
                  </a:lnTo>
                  <a:lnTo>
                    <a:pt x="0" y="393786"/>
                  </a:lnTo>
                  <a:cubicBezTo>
                    <a:pt x="1782" y="185660"/>
                    <a:pt x="93019" y="64045"/>
                    <a:pt x="220252" y="19070"/>
                  </a:cubicBezTo>
                  <a:close/>
                </a:path>
              </a:pathLst>
            </a:custGeom>
            <a:solidFill>
              <a:srgbClr val="D82706"/>
            </a:solidFill>
          </p:spPr>
        </p:sp>
        <p:sp>
          <p:nvSpPr>
            <p:cNvPr id="7" name="TextBox 7"/>
            <p:cNvSpPr txBox="1"/>
            <p:nvPr/>
          </p:nvSpPr>
          <p:spPr>
            <a:xfrm>
              <a:off x="0" y="98425"/>
              <a:ext cx="660400" cy="714375"/>
            </a:xfrm>
            <a:prstGeom prst="rect">
              <a:avLst/>
            </a:prstGeom>
          </p:spPr>
          <p:txBody>
            <a:bodyPr lIns="50800" tIns="50800" rIns="50800" bIns="50800" rtlCol="0" anchor="ctr"/>
            <a:lstStyle/>
            <a:p>
              <a:pPr algn="ctr">
                <a:lnSpc>
                  <a:spcPts val="2590"/>
                </a:lnSpc>
              </a:pPr>
              <a:endParaRPr/>
            </a:p>
          </p:txBody>
        </p:sp>
      </p:grpSp>
      <p:grpSp>
        <p:nvGrpSpPr>
          <p:cNvPr id="8" name="Group 8"/>
          <p:cNvGrpSpPr/>
          <p:nvPr/>
        </p:nvGrpSpPr>
        <p:grpSpPr>
          <a:xfrm rot="2377137">
            <a:off x="3012298" y="9449050"/>
            <a:ext cx="411277" cy="2198755"/>
            <a:chOff x="0" y="0"/>
            <a:chExt cx="660400" cy="3530606"/>
          </a:xfrm>
        </p:grpSpPr>
        <p:sp>
          <p:nvSpPr>
            <p:cNvPr id="9" name="Freeform 9"/>
            <p:cNvSpPr/>
            <p:nvPr/>
          </p:nvSpPr>
          <p:spPr>
            <a:xfrm>
              <a:off x="0" y="0"/>
              <a:ext cx="660400" cy="3530605"/>
            </a:xfrm>
            <a:custGeom>
              <a:avLst/>
              <a:gdLst/>
              <a:ahLst/>
              <a:cxnLst/>
              <a:rect l="l" t="t" r="r" b="b"/>
              <a:pathLst>
                <a:path w="660400" h="353060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88872"/>
                  </a:cubicBezTo>
                  <a:lnTo>
                    <a:pt x="660400" y="3530605"/>
                  </a:lnTo>
                  <a:lnTo>
                    <a:pt x="0" y="3530605"/>
                  </a:lnTo>
                  <a:lnTo>
                    <a:pt x="0" y="391204"/>
                  </a:lnTo>
                  <a:cubicBezTo>
                    <a:pt x="1782" y="185660"/>
                    <a:pt x="93019" y="64045"/>
                    <a:pt x="220252" y="19070"/>
                  </a:cubicBezTo>
                  <a:close/>
                </a:path>
              </a:pathLst>
            </a:custGeom>
            <a:solidFill>
              <a:srgbClr val="D82706"/>
            </a:solidFill>
          </p:spPr>
        </p:sp>
        <p:sp>
          <p:nvSpPr>
            <p:cNvPr id="10" name="TextBox 10"/>
            <p:cNvSpPr txBox="1"/>
            <p:nvPr/>
          </p:nvSpPr>
          <p:spPr>
            <a:xfrm>
              <a:off x="0" y="98425"/>
              <a:ext cx="660400" cy="714375"/>
            </a:xfrm>
            <a:prstGeom prst="rect">
              <a:avLst/>
            </a:prstGeom>
          </p:spPr>
          <p:txBody>
            <a:bodyPr lIns="50800" tIns="50800" rIns="50800" bIns="50800" rtlCol="0" anchor="ctr"/>
            <a:lstStyle/>
            <a:p>
              <a:pPr algn="ctr">
                <a:lnSpc>
                  <a:spcPts val="2590"/>
                </a:lnSpc>
              </a:pPr>
              <a:endParaRPr/>
            </a:p>
          </p:txBody>
        </p:sp>
      </p:grpSp>
      <p:sp>
        <p:nvSpPr>
          <p:cNvPr id="19" name="AutoShape 19"/>
          <p:cNvSpPr/>
          <p:nvPr/>
        </p:nvSpPr>
        <p:spPr>
          <a:xfrm flipV="1">
            <a:off x="-2023730" y="7040723"/>
            <a:ext cx="3495899" cy="4260352"/>
          </a:xfrm>
          <a:prstGeom prst="line">
            <a:avLst/>
          </a:prstGeom>
          <a:ln w="85725" cap="rnd">
            <a:solidFill>
              <a:srgbClr val="D82706"/>
            </a:solidFill>
            <a:prstDash val="solid"/>
            <a:headEnd type="none" w="sm" len="sm"/>
            <a:tailEnd type="none" w="sm" len="sm"/>
          </a:ln>
        </p:spPr>
      </p:sp>
      <p:sp>
        <p:nvSpPr>
          <p:cNvPr id="26" name="TextBox 26"/>
          <p:cNvSpPr txBox="1"/>
          <p:nvPr/>
        </p:nvSpPr>
        <p:spPr>
          <a:xfrm>
            <a:off x="113579" y="243691"/>
            <a:ext cx="6597817" cy="1346555"/>
          </a:xfrm>
          <a:prstGeom prst="rect">
            <a:avLst/>
          </a:prstGeom>
        </p:spPr>
        <p:txBody>
          <a:bodyPr lIns="50800" tIns="50800" rIns="50800" bIns="50800" rtlCol="0" anchor="ctr"/>
          <a:lstStyle/>
          <a:p>
            <a:pPr marL="0" lvl="0" indent="0" algn="ctr">
              <a:lnSpc>
                <a:spcPts val="5935"/>
              </a:lnSpc>
              <a:spcBef>
                <a:spcPct val="0"/>
              </a:spcBef>
            </a:pPr>
            <a:r>
              <a:rPr lang="en-US" sz="6000" dirty="0" smtClean="0">
                <a:solidFill>
                  <a:srgbClr val="FFFFFF"/>
                </a:solidFill>
                <a:latin typeface="Canva Sans Bold"/>
              </a:rPr>
              <a:t>Background:</a:t>
            </a:r>
            <a:endParaRPr lang="en-US" sz="6000" dirty="0">
              <a:solidFill>
                <a:srgbClr val="FFFFFF"/>
              </a:solidFill>
              <a:latin typeface="Canva Sans Bold"/>
            </a:endParaRPr>
          </a:p>
        </p:txBody>
      </p:sp>
      <p:sp>
        <p:nvSpPr>
          <p:cNvPr id="27" name="TextBox 27"/>
          <p:cNvSpPr txBox="1"/>
          <p:nvPr/>
        </p:nvSpPr>
        <p:spPr>
          <a:xfrm>
            <a:off x="5922427" y="4161973"/>
            <a:ext cx="11312850" cy="5737468"/>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200" dirty="0" smtClean="0">
                <a:solidFill>
                  <a:schemeClr val="bg1"/>
                </a:solidFill>
                <a:latin typeface="DM Sans"/>
              </a:rPr>
              <a:t>POP </a:t>
            </a:r>
            <a:r>
              <a:rPr lang="en-US" sz="3200" dirty="0">
                <a:solidFill>
                  <a:schemeClr val="bg1"/>
                </a:solidFill>
                <a:latin typeface="DM Sans"/>
              </a:rPr>
              <a:t>INN is specifically tailored to address the unique challenges and vulnerabilities </a:t>
            </a:r>
            <a:r>
              <a:rPr lang="en-US" sz="3200" dirty="0" smtClean="0">
                <a:solidFill>
                  <a:schemeClr val="bg1"/>
                </a:solidFill>
                <a:latin typeface="DM Sans"/>
              </a:rPr>
              <a:t>that MSM and TGW populations face.</a:t>
            </a:r>
            <a:endParaRPr lang="en-US" sz="3200" dirty="0">
              <a:solidFill>
                <a:schemeClr val="bg1"/>
              </a:solidFill>
              <a:latin typeface="DM Sans"/>
            </a:endParaRPr>
          </a:p>
          <a:p>
            <a:pPr marL="457200" indent="-457200">
              <a:buFont typeface="Arial" panose="020B0604020202020204" pitchFamily="34" charset="0"/>
              <a:buChar char="•"/>
            </a:pPr>
            <a:r>
              <a:rPr lang="en-US" sz="3200" dirty="0" smtClean="0">
                <a:solidFill>
                  <a:schemeClr val="bg1"/>
                </a:solidFill>
                <a:latin typeface="DM Sans"/>
              </a:rPr>
              <a:t>The </a:t>
            </a:r>
            <a:r>
              <a:rPr lang="en-US" sz="3200" dirty="0">
                <a:solidFill>
                  <a:schemeClr val="bg1"/>
                </a:solidFill>
                <a:latin typeface="DM Sans"/>
              </a:rPr>
              <a:t>program aims to combat unprotected sex and promote health and well-being among these populations by offering a wide range of services</a:t>
            </a:r>
            <a:r>
              <a:rPr lang="en-US" sz="3200" dirty="0" smtClean="0">
                <a:solidFill>
                  <a:schemeClr val="bg1"/>
                </a:solidFill>
                <a:latin typeface="DM Sans"/>
              </a:rPr>
              <a:t>.</a:t>
            </a:r>
            <a:endParaRPr lang="en-US" sz="3200" dirty="0">
              <a:solidFill>
                <a:schemeClr val="bg1"/>
              </a:solidFill>
              <a:latin typeface="DM Sans"/>
            </a:endParaRPr>
          </a:p>
          <a:p>
            <a:pPr marL="457200" indent="-457200">
              <a:buFont typeface="Arial" panose="020B0604020202020204" pitchFamily="34" charset="0"/>
              <a:buChar char="•"/>
            </a:pPr>
            <a:r>
              <a:rPr lang="en-US" sz="3200" dirty="0" smtClean="0">
                <a:solidFill>
                  <a:schemeClr val="bg1"/>
                </a:solidFill>
                <a:latin typeface="DM Sans"/>
              </a:rPr>
              <a:t>A </a:t>
            </a:r>
            <a:r>
              <a:rPr lang="en-US" sz="3200" dirty="0">
                <a:solidFill>
                  <a:schemeClr val="bg1"/>
                </a:solidFill>
                <a:latin typeface="DM Sans"/>
              </a:rPr>
              <a:t>key focus of POP INN is providing HIV testing services, </a:t>
            </a:r>
            <a:r>
              <a:rPr lang="en-US" sz="3200" dirty="0" err="1">
                <a:solidFill>
                  <a:schemeClr val="bg1"/>
                </a:solidFill>
                <a:latin typeface="DM Sans"/>
              </a:rPr>
              <a:t>PrEP</a:t>
            </a:r>
            <a:r>
              <a:rPr lang="en-US" sz="3200" dirty="0">
                <a:solidFill>
                  <a:schemeClr val="bg1"/>
                </a:solidFill>
                <a:latin typeface="DM Sans"/>
              </a:rPr>
              <a:t>, Condoms, immediate initiation of antiretroviral </a:t>
            </a:r>
            <a:r>
              <a:rPr lang="en-US" sz="3200" dirty="0" smtClean="0">
                <a:solidFill>
                  <a:schemeClr val="bg1"/>
                </a:solidFill>
                <a:latin typeface="DM Sans"/>
              </a:rPr>
              <a:t>treatment, </a:t>
            </a:r>
            <a:r>
              <a:rPr lang="en-US" sz="3200" dirty="0">
                <a:solidFill>
                  <a:schemeClr val="bg1"/>
                </a:solidFill>
                <a:latin typeface="DM Sans"/>
              </a:rPr>
              <a:t>etc</a:t>
            </a:r>
            <a:r>
              <a:rPr lang="en-US" sz="3200" dirty="0" smtClean="0">
                <a:solidFill>
                  <a:schemeClr val="bg1"/>
                </a:solidFill>
                <a:latin typeface="DM Sans"/>
              </a:rPr>
              <a:t>.</a:t>
            </a:r>
            <a:endParaRPr lang="en-US" sz="3200" dirty="0">
              <a:solidFill>
                <a:schemeClr val="bg1"/>
              </a:solidFill>
              <a:latin typeface="DM Sans"/>
            </a:endParaRPr>
          </a:p>
          <a:p>
            <a:pPr marL="457200" indent="-457200">
              <a:buFont typeface="Arial" panose="020B0604020202020204" pitchFamily="34" charset="0"/>
              <a:buChar char="•"/>
            </a:pPr>
            <a:r>
              <a:rPr lang="en-US" sz="3200" dirty="0" smtClean="0">
                <a:solidFill>
                  <a:schemeClr val="bg1"/>
                </a:solidFill>
                <a:latin typeface="DM Sans"/>
              </a:rPr>
              <a:t>POP </a:t>
            </a:r>
            <a:r>
              <a:rPr lang="en-US" sz="3200" dirty="0">
                <a:solidFill>
                  <a:schemeClr val="bg1"/>
                </a:solidFill>
                <a:latin typeface="DM Sans"/>
              </a:rPr>
              <a:t>INN was implemented as POP INN Clinic, which is a facility that renders these </a:t>
            </a:r>
            <a:r>
              <a:rPr lang="en-US" sz="3200" dirty="0" smtClean="0">
                <a:solidFill>
                  <a:schemeClr val="bg1"/>
                </a:solidFill>
                <a:latin typeface="DM Sans"/>
              </a:rPr>
              <a:t>services.</a:t>
            </a:r>
            <a:endParaRPr lang="en-US" sz="3200" dirty="0">
              <a:solidFill>
                <a:schemeClr val="bg1"/>
              </a:solidFill>
              <a:latin typeface="DM Sans"/>
            </a:endParaRPr>
          </a:p>
          <a:p>
            <a:pPr>
              <a:lnSpc>
                <a:spcPts val="2505"/>
              </a:lnSpc>
            </a:pPr>
            <a:endParaRPr lang="en-US" sz="1648" dirty="0">
              <a:solidFill>
                <a:srgbClr val="000000"/>
              </a:solidFill>
              <a:latin typeface="DM Sans"/>
            </a:endParaRPr>
          </a:p>
        </p:txBody>
      </p:sp>
      <p:grpSp>
        <p:nvGrpSpPr>
          <p:cNvPr id="29" name="Group 29"/>
          <p:cNvGrpSpPr/>
          <p:nvPr/>
        </p:nvGrpSpPr>
        <p:grpSpPr>
          <a:xfrm rot="-8419140">
            <a:off x="16781988" y="-3913825"/>
            <a:ext cx="2842082" cy="7253346"/>
            <a:chOff x="0" y="0"/>
            <a:chExt cx="660400" cy="1685423"/>
          </a:xfrm>
        </p:grpSpPr>
        <p:sp>
          <p:nvSpPr>
            <p:cNvPr id="30" name="Freeform 30"/>
            <p:cNvSpPr/>
            <p:nvPr/>
          </p:nvSpPr>
          <p:spPr>
            <a:xfrm>
              <a:off x="0" y="0"/>
              <a:ext cx="660400" cy="1685423"/>
            </a:xfrm>
            <a:custGeom>
              <a:avLst/>
              <a:gdLst/>
              <a:ahLst/>
              <a:cxnLst/>
              <a:rect l="l" t="t" r="r" b="b"/>
              <a:pathLst>
                <a:path w="660400" h="168542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47885"/>
                  </a:cubicBezTo>
                  <a:lnTo>
                    <a:pt x="660400" y="1685423"/>
                  </a:lnTo>
                  <a:lnTo>
                    <a:pt x="0" y="1685423"/>
                  </a:lnTo>
                  <a:lnTo>
                    <a:pt x="0" y="348878"/>
                  </a:lnTo>
                  <a:cubicBezTo>
                    <a:pt x="1782" y="185660"/>
                    <a:pt x="93019" y="64045"/>
                    <a:pt x="220252" y="19070"/>
                  </a:cubicBezTo>
                  <a:close/>
                </a:path>
              </a:pathLst>
            </a:custGeom>
            <a:solidFill>
              <a:srgbClr val="D82706">
                <a:alpha val="43922"/>
              </a:srgbClr>
            </a:solidFill>
          </p:spPr>
        </p:sp>
        <p:sp>
          <p:nvSpPr>
            <p:cNvPr id="31" name="TextBox 31"/>
            <p:cNvSpPr txBox="1"/>
            <p:nvPr/>
          </p:nvSpPr>
          <p:spPr>
            <a:xfrm>
              <a:off x="0" y="98425"/>
              <a:ext cx="660400" cy="714375"/>
            </a:xfrm>
            <a:prstGeom prst="rect">
              <a:avLst/>
            </a:prstGeom>
          </p:spPr>
          <p:txBody>
            <a:bodyPr lIns="50800" tIns="50800" rIns="50800" bIns="50800" rtlCol="0" anchor="ctr"/>
            <a:lstStyle/>
            <a:p>
              <a:pPr algn="ctr">
                <a:lnSpc>
                  <a:spcPts val="2590"/>
                </a:lnSpc>
              </a:pPr>
              <a:endParaRPr/>
            </a:p>
          </p:txBody>
        </p:sp>
      </p:grpSp>
      <p:grpSp>
        <p:nvGrpSpPr>
          <p:cNvPr id="32" name="Group 32"/>
          <p:cNvGrpSpPr/>
          <p:nvPr/>
        </p:nvGrpSpPr>
        <p:grpSpPr>
          <a:xfrm rot="-8422862">
            <a:off x="18303618" y="-391052"/>
            <a:ext cx="1338510" cy="5875601"/>
            <a:chOff x="0" y="0"/>
            <a:chExt cx="660400" cy="2898930"/>
          </a:xfrm>
        </p:grpSpPr>
        <p:sp>
          <p:nvSpPr>
            <p:cNvPr id="33" name="Freeform 33"/>
            <p:cNvSpPr/>
            <p:nvPr/>
          </p:nvSpPr>
          <p:spPr>
            <a:xfrm>
              <a:off x="0" y="0"/>
              <a:ext cx="660400" cy="2898930"/>
            </a:xfrm>
            <a:custGeom>
              <a:avLst/>
              <a:gdLst/>
              <a:ahLst/>
              <a:cxnLst/>
              <a:rect l="l" t="t" r="r" b="b"/>
              <a:pathLst>
                <a:path w="660400" h="289893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74841"/>
                  </a:cubicBezTo>
                  <a:lnTo>
                    <a:pt x="660400" y="2898930"/>
                  </a:lnTo>
                  <a:lnTo>
                    <a:pt x="0" y="2898930"/>
                  </a:lnTo>
                  <a:lnTo>
                    <a:pt x="0" y="376714"/>
                  </a:lnTo>
                  <a:cubicBezTo>
                    <a:pt x="1782" y="185660"/>
                    <a:pt x="93019" y="64045"/>
                    <a:pt x="220252" y="19070"/>
                  </a:cubicBezTo>
                  <a:close/>
                </a:path>
              </a:pathLst>
            </a:custGeom>
            <a:solidFill>
              <a:srgbClr val="D82706"/>
            </a:solidFill>
          </p:spPr>
        </p:sp>
        <p:sp>
          <p:nvSpPr>
            <p:cNvPr id="34" name="TextBox 34"/>
            <p:cNvSpPr txBox="1"/>
            <p:nvPr/>
          </p:nvSpPr>
          <p:spPr>
            <a:xfrm>
              <a:off x="0" y="98425"/>
              <a:ext cx="660400" cy="714375"/>
            </a:xfrm>
            <a:prstGeom prst="rect">
              <a:avLst/>
            </a:prstGeom>
          </p:spPr>
          <p:txBody>
            <a:bodyPr lIns="50800" tIns="50800" rIns="50800" bIns="50800" rtlCol="0" anchor="ctr"/>
            <a:lstStyle/>
            <a:p>
              <a:pPr algn="ctr">
                <a:lnSpc>
                  <a:spcPts val="2590"/>
                </a:lnSpc>
              </a:pPr>
              <a:endParaRPr/>
            </a:p>
          </p:txBody>
        </p:sp>
      </p:grpSp>
      <p:grpSp>
        <p:nvGrpSpPr>
          <p:cNvPr id="35" name="Group 35"/>
          <p:cNvGrpSpPr/>
          <p:nvPr/>
        </p:nvGrpSpPr>
        <p:grpSpPr>
          <a:xfrm rot="-8422862">
            <a:off x="14997526" y="-558072"/>
            <a:ext cx="411277" cy="1644511"/>
            <a:chOff x="0" y="0"/>
            <a:chExt cx="660400" cy="2640639"/>
          </a:xfrm>
        </p:grpSpPr>
        <p:sp>
          <p:nvSpPr>
            <p:cNvPr id="36" name="Freeform 36"/>
            <p:cNvSpPr/>
            <p:nvPr/>
          </p:nvSpPr>
          <p:spPr>
            <a:xfrm>
              <a:off x="0" y="0"/>
              <a:ext cx="660400" cy="2640639"/>
            </a:xfrm>
            <a:custGeom>
              <a:avLst/>
              <a:gdLst/>
              <a:ahLst/>
              <a:cxnLst/>
              <a:rect l="l" t="t" r="r" b="b"/>
              <a:pathLst>
                <a:path w="660400" h="264063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69104"/>
                  </a:cubicBezTo>
                  <a:lnTo>
                    <a:pt x="660400" y="2640639"/>
                  </a:lnTo>
                  <a:lnTo>
                    <a:pt x="0" y="2640639"/>
                  </a:lnTo>
                  <a:lnTo>
                    <a:pt x="0" y="370789"/>
                  </a:lnTo>
                  <a:cubicBezTo>
                    <a:pt x="1782" y="185660"/>
                    <a:pt x="93019" y="64045"/>
                    <a:pt x="220252" y="19070"/>
                  </a:cubicBezTo>
                  <a:close/>
                </a:path>
              </a:pathLst>
            </a:custGeom>
            <a:solidFill>
              <a:srgbClr val="D82706"/>
            </a:solidFill>
          </p:spPr>
        </p:sp>
        <p:sp>
          <p:nvSpPr>
            <p:cNvPr id="37" name="TextBox 37"/>
            <p:cNvSpPr txBox="1"/>
            <p:nvPr/>
          </p:nvSpPr>
          <p:spPr>
            <a:xfrm>
              <a:off x="0" y="98425"/>
              <a:ext cx="660400" cy="714375"/>
            </a:xfrm>
            <a:prstGeom prst="rect">
              <a:avLst/>
            </a:prstGeom>
          </p:spPr>
          <p:txBody>
            <a:bodyPr lIns="50800" tIns="50800" rIns="50800" bIns="50800" rtlCol="0" anchor="ctr"/>
            <a:lstStyle/>
            <a:p>
              <a:pPr algn="ctr">
                <a:lnSpc>
                  <a:spcPts val="2590"/>
                </a:lnSpc>
              </a:pPr>
              <a:endParaRPr/>
            </a:p>
          </p:txBody>
        </p:sp>
      </p:grpSp>
      <p:sp>
        <p:nvSpPr>
          <p:cNvPr id="38" name="AutoShape 38"/>
          <p:cNvSpPr/>
          <p:nvPr/>
        </p:nvSpPr>
        <p:spPr>
          <a:xfrm flipH="1">
            <a:off x="17077631" y="-274996"/>
            <a:ext cx="3190486" cy="3827111"/>
          </a:xfrm>
          <a:prstGeom prst="line">
            <a:avLst/>
          </a:prstGeom>
          <a:ln w="85725" cap="rnd">
            <a:solidFill>
              <a:srgbClr val="D82706"/>
            </a:solidFill>
            <a:prstDash val="solid"/>
            <a:headEnd type="none" w="sm" len="sm"/>
            <a:tailEnd type="none" w="sm" len="sm"/>
          </a:ln>
        </p:spPr>
      </p:sp>
      <p:pic>
        <p:nvPicPr>
          <p:cNvPr id="42" name="Picture 4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05487" y="1638559"/>
            <a:ext cx="7014878" cy="1844743"/>
          </a:xfrm>
          <a:prstGeom prst="rect">
            <a:avLst/>
          </a:prstGeom>
        </p:spPr>
      </p:pic>
      <p:sp>
        <p:nvSpPr>
          <p:cNvPr id="43" name="TextBox 42"/>
          <p:cNvSpPr txBox="1"/>
          <p:nvPr/>
        </p:nvSpPr>
        <p:spPr>
          <a:xfrm>
            <a:off x="754236" y="1458195"/>
            <a:ext cx="8668121" cy="2554545"/>
          </a:xfrm>
          <a:prstGeom prst="rect">
            <a:avLst/>
          </a:prstGeom>
          <a:noFill/>
        </p:spPr>
        <p:txBody>
          <a:bodyPr wrap="square" rtlCol="0">
            <a:spAutoFit/>
          </a:bodyPr>
          <a:lstStyle/>
          <a:p>
            <a:pPr marL="285750" indent="-285750">
              <a:buFont typeface="Arial" panose="020B0604020202020204" pitchFamily="34" charset="0"/>
              <a:buChar char="•"/>
            </a:pPr>
            <a:r>
              <a:rPr lang="en-US" sz="3200" dirty="0">
                <a:solidFill>
                  <a:schemeClr val="bg1"/>
                </a:solidFill>
                <a:latin typeface="DM Sans" panose="020B0604020202020204" charset="0"/>
              </a:rPr>
              <a:t>The Aurum Institute introduced the POP INN program in October 2019, in response to the rising HIV and STI rates among men who sleep with men (MSM) and transgender women (TGW).</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EAF3E"/>
        </a:solidFill>
        <a:effectLst/>
      </p:bgPr>
    </p:bg>
    <p:spTree>
      <p:nvGrpSpPr>
        <p:cNvPr id="1" name=""/>
        <p:cNvGrpSpPr/>
        <p:nvPr/>
      </p:nvGrpSpPr>
      <p:grpSpPr>
        <a:xfrm>
          <a:off x="0" y="0"/>
          <a:ext cx="0" cy="0"/>
          <a:chOff x="0" y="0"/>
          <a:chExt cx="0" cy="0"/>
        </a:xfrm>
      </p:grpSpPr>
      <p:grpSp>
        <p:nvGrpSpPr>
          <p:cNvPr id="2" name="Group 2"/>
          <p:cNvGrpSpPr/>
          <p:nvPr/>
        </p:nvGrpSpPr>
        <p:grpSpPr>
          <a:xfrm>
            <a:off x="-2687361" y="-3210146"/>
            <a:ext cx="8477692" cy="847769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4" name="TextBox 4"/>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sp>
        <p:nvSpPr>
          <p:cNvPr id="7" name="TextBox 7"/>
          <p:cNvSpPr txBox="1"/>
          <p:nvPr/>
        </p:nvSpPr>
        <p:spPr>
          <a:xfrm>
            <a:off x="94549" y="596610"/>
            <a:ext cx="6093173" cy="1124136"/>
          </a:xfrm>
          <a:prstGeom prst="rect">
            <a:avLst/>
          </a:prstGeom>
        </p:spPr>
        <p:txBody>
          <a:bodyPr lIns="215900" tIns="215900" rIns="215900" bIns="215900" rtlCol="0" anchor="ctr"/>
          <a:lstStyle/>
          <a:p>
            <a:pPr marL="0" lvl="0" indent="0" algn="ctr">
              <a:lnSpc>
                <a:spcPts val="5179"/>
              </a:lnSpc>
              <a:spcBef>
                <a:spcPct val="0"/>
              </a:spcBef>
            </a:pPr>
            <a:r>
              <a:rPr lang="en-US" sz="6000" dirty="0" smtClean="0">
                <a:solidFill>
                  <a:srgbClr val="FFFFFF"/>
                </a:solidFill>
                <a:latin typeface="Canva Sans Bold"/>
              </a:rPr>
              <a:t>Problem:</a:t>
            </a:r>
            <a:endParaRPr lang="en-US" sz="6000" dirty="0">
              <a:solidFill>
                <a:srgbClr val="FFFFFF"/>
              </a:solidFill>
              <a:latin typeface="Canva Sans Bold"/>
            </a:endParaRPr>
          </a:p>
        </p:txBody>
      </p:sp>
      <p:grpSp>
        <p:nvGrpSpPr>
          <p:cNvPr id="28" name="Group 28"/>
          <p:cNvGrpSpPr/>
          <p:nvPr/>
        </p:nvGrpSpPr>
        <p:grpSpPr>
          <a:xfrm>
            <a:off x="15848734" y="8098728"/>
            <a:ext cx="3616106" cy="361610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30" name="TextBox 30"/>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sp>
        <p:nvSpPr>
          <p:cNvPr id="31" name="TextBox 31"/>
          <p:cNvSpPr txBox="1"/>
          <p:nvPr/>
        </p:nvSpPr>
        <p:spPr>
          <a:xfrm>
            <a:off x="1068481" y="1993062"/>
            <a:ext cx="7737936" cy="6894195"/>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200" dirty="0" smtClean="0">
                <a:solidFill>
                  <a:schemeClr val="bg1"/>
                </a:solidFill>
              </a:rPr>
              <a:t>Rising </a:t>
            </a:r>
            <a:r>
              <a:rPr lang="en-US" sz="3200" dirty="0">
                <a:solidFill>
                  <a:schemeClr val="bg1"/>
                </a:solidFill>
              </a:rPr>
              <a:t>HIV infection rates in MSM and TGW are a major public health concern, driven by various factors</a:t>
            </a:r>
            <a:r>
              <a:rPr lang="en-US" sz="3200" dirty="0" smtClean="0">
                <a:solidFill>
                  <a:schemeClr val="bg1"/>
                </a:solidFill>
              </a:rPr>
              <a:t>.</a:t>
            </a:r>
          </a:p>
          <a:p>
            <a:pPr marL="457200" indent="-457200">
              <a:buFont typeface="Arial" panose="020B0604020202020204" pitchFamily="34" charset="0"/>
              <a:buChar char="•"/>
            </a:pPr>
            <a:endParaRPr lang="en-US" sz="3200" dirty="0">
              <a:solidFill>
                <a:schemeClr val="bg1"/>
              </a:solidFill>
            </a:endParaRPr>
          </a:p>
          <a:p>
            <a:pPr marL="457200" lvl="0" indent="-457200">
              <a:buFont typeface="Arial" panose="020B0604020202020204" pitchFamily="34" charset="0"/>
              <a:buChar char="•"/>
            </a:pPr>
            <a:r>
              <a:rPr lang="en-US" sz="3200" dirty="0">
                <a:solidFill>
                  <a:schemeClr val="bg1"/>
                </a:solidFill>
              </a:rPr>
              <a:t>Causes of the problem include </a:t>
            </a:r>
            <a:r>
              <a:rPr lang="en-US" sz="3200" dirty="0" smtClean="0">
                <a:solidFill>
                  <a:schemeClr val="bg1"/>
                </a:solidFill>
              </a:rPr>
              <a:t>behavioral </a:t>
            </a:r>
            <a:r>
              <a:rPr lang="en-US" sz="3200" dirty="0">
                <a:solidFill>
                  <a:schemeClr val="bg1"/>
                </a:solidFill>
              </a:rPr>
              <a:t>risks (like inconsistent condom use) and environmental risks (such as societal attitudes and healthcare barriers</a:t>
            </a:r>
            <a:r>
              <a:rPr lang="en-US" sz="3200" dirty="0" smtClean="0">
                <a:solidFill>
                  <a:schemeClr val="bg1"/>
                </a:solidFill>
              </a:rPr>
              <a:t>).</a:t>
            </a:r>
          </a:p>
          <a:p>
            <a:pPr marL="457200" lvl="0" indent="-457200">
              <a:buFont typeface="Arial" panose="020B0604020202020204" pitchFamily="34" charset="0"/>
              <a:buChar char="•"/>
            </a:pPr>
            <a:endParaRPr lang="en-US" sz="3200" dirty="0">
              <a:solidFill>
                <a:schemeClr val="bg1"/>
              </a:solidFill>
            </a:endParaRPr>
          </a:p>
          <a:p>
            <a:pPr marL="457200" lvl="0" indent="-457200">
              <a:buFont typeface="Arial" panose="020B0604020202020204" pitchFamily="34" charset="0"/>
              <a:buChar char="•"/>
            </a:pPr>
            <a:r>
              <a:rPr lang="en-US" sz="3200" dirty="0">
                <a:solidFill>
                  <a:schemeClr val="bg1"/>
                </a:solidFill>
              </a:rPr>
              <a:t>Behavioral determinants include stigma and masculinity norms for MSM and transphobia for TGW, while environmental determinants encompass discrimination and restricted healthcare access</a:t>
            </a:r>
            <a:r>
              <a:rPr lang="en-US" sz="3200" dirty="0" smtClean="0">
                <a:solidFill>
                  <a:schemeClr val="bg1"/>
                </a:solidFill>
              </a:rPr>
              <a:t>.</a:t>
            </a:r>
            <a:endParaRPr lang="en-US" sz="3200" dirty="0">
              <a:solidFill>
                <a:schemeClr val="bg1"/>
              </a:solidFill>
            </a:endParaRPr>
          </a:p>
        </p:txBody>
      </p:sp>
      <p:pic>
        <p:nvPicPr>
          <p:cNvPr id="42" name="Picture 4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7210" y="1801446"/>
            <a:ext cx="8339577" cy="58502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3" name="TextBox 31"/>
          <p:cNvSpPr txBox="1"/>
          <p:nvPr/>
        </p:nvSpPr>
        <p:spPr>
          <a:xfrm>
            <a:off x="9516752" y="727791"/>
            <a:ext cx="7737936" cy="861774"/>
          </a:xfrm>
          <a:prstGeom prst="rect">
            <a:avLst/>
          </a:prstGeom>
        </p:spPr>
        <p:txBody>
          <a:bodyPr wrap="square" lIns="0" tIns="0" rIns="0" bIns="0" rtlCol="0" anchor="t">
            <a:spAutoFit/>
          </a:bodyPr>
          <a:lstStyle/>
          <a:p>
            <a:r>
              <a:rPr lang="en-US" sz="2800" dirty="0" smtClean="0">
                <a:solidFill>
                  <a:schemeClr val="bg1"/>
                </a:solidFill>
              </a:rPr>
              <a:t>HIV among Gay and Bisexual men in the U.S. | Factsheet | Newsroom | NCHHSTP | CDC</a:t>
            </a:r>
            <a:endParaRPr lang="en-US" sz="2800" dirty="0">
              <a:solidFill>
                <a:schemeClr val="bg1"/>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82706"/>
        </a:solidFill>
        <a:effectLst/>
      </p:bgPr>
    </p:bg>
    <p:spTree>
      <p:nvGrpSpPr>
        <p:cNvPr id="1" name=""/>
        <p:cNvGrpSpPr/>
        <p:nvPr/>
      </p:nvGrpSpPr>
      <p:grpSpPr>
        <a:xfrm>
          <a:off x="0" y="0"/>
          <a:ext cx="0" cy="0"/>
          <a:chOff x="0" y="0"/>
          <a:chExt cx="0" cy="0"/>
        </a:xfrm>
      </p:grpSpPr>
      <p:grpSp>
        <p:nvGrpSpPr>
          <p:cNvPr id="12" name="Group 12"/>
          <p:cNvGrpSpPr/>
          <p:nvPr/>
        </p:nvGrpSpPr>
        <p:grpSpPr>
          <a:xfrm>
            <a:off x="533400" y="495300"/>
            <a:ext cx="17297400" cy="9296400"/>
            <a:chOff x="0" y="0"/>
            <a:chExt cx="789363" cy="428291"/>
          </a:xfrm>
        </p:grpSpPr>
        <p:sp>
          <p:nvSpPr>
            <p:cNvPr id="13" name="Freeform 13"/>
            <p:cNvSpPr/>
            <p:nvPr/>
          </p:nvSpPr>
          <p:spPr>
            <a:xfrm>
              <a:off x="0" y="0"/>
              <a:ext cx="789363" cy="428291"/>
            </a:xfrm>
            <a:custGeom>
              <a:avLst/>
              <a:gdLst/>
              <a:ahLst/>
              <a:cxnLst/>
              <a:rect l="l" t="t" r="r" b="b"/>
              <a:pathLst>
                <a:path w="789363" h="428291">
                  <a:moveTo>
                    <a:pt x="0" y="0"/>
                  </a:moveTo>
                  <a:lnTo>
                    <a:pt x="789363" y="0"/>
                  </a:lnTo>
                  <a:lnTo>
                    <a:pt x="789363" y="428291"/>
                  </a:lnTo>
                  <a:lnTo>
                    <a:pt x="0" y="428291"/>
                  </a:lnTo>
                  <a:close/>
                </a:path>
              </a:pathLst>
            </a:custGeom>
            <a:solidFill>
              <a:srgbClr val="CEAF3E"/>
            </a:solidFill>
          </p:spPr>
        </p:sp>
        <p:sp>
          <p:nvSpPr>
            <p:cNvPr id="14" name="TextBox 14"/>
            <p:cNvSpPr txBox="1"/>
            <p:nvPr/>
          </p:nvSpPr>
          <p:spPr>
            <a:xfrm>
              <a:off x="0" y="-28575"/>
              <a:ext cx="812800" cy="841375"/>
            </a:xfrm>
            <a:prstGeom prst="rect">
              <a:avLst/>
            </a:prstGeom>
          </p:spPr>
          <p:txBody>
            <a:bodyPr lIns="50800" tIns="50800" rIns="50800" bIns="50800" rtlCol="0" anchor="ctr"/>
            <a:lstStyle/>
            <a:p>
              <a:pPr algn="ctr">
                <a:lnSpc>
                  <a:spcPts val="2590"/>
                </a:lnSpc>
              </a:pPr>
              <a:endParaRPr/>
            </a:p>
          </p:txBody>
        </p:sp>
      </p:grpSp>
      <p:sp>
        <p:nvSpPr>
          <p:cNvPr id="27" name="TextBox 26"/>
          <p:cNvSpPr txBox="1"/>
          <p:nvPr/>
        </p:nvSpPr>
        <p:spPr>
          <a:xfrm>
            <a:off x="2161789" y="842212"/>
            <a:ext cx="14554200" cy="923330"/>
          </a:xfrm>
          <a:prstGeom prst="rect">
            <a:avLst/>
          </a:prstGeom>
          <a:noFill/>
        </p:spPr>
        <p:txBody>
          <a:bodyPr wrap="square" rtlCol="0">
            <a:spAutoFit/>
          </a:bodyPr>
          <a:lstStyle/>
          <a:p>
            <a:r>
              <a:rPr lang="en-US" sz="5400" dirty="0">
                <a:solidFill>
                  <a:schemeClr val="bg1"/>
                </a:solidFill>
                <a:latin typeface="Canva Sans Bold" panose="020B0604020202020204" charset="0"/>
              </a:rPr>
              <a:t>Intervention Plan </a:t>
            </a:r>
            <a:r>
              <a:rPr lang="en-US" sz="5400" dirty="0" smtClean="0">
                <a:solidFill>
                  <a:schemeClr val="bg1"/>
                </a:solidFill>
                <a:latin typeface="Canva Sans Bold" panose="020B0604020202020204" charset="0"/>
              </a:rPr>
              <a:t>Project: Protect4Life</a:t>
            </a:r>
            <a:endParaRPr lang="en-US" sz="5400" dirty="0">
              <a:solidFill>
                <a:schemeClr val="bg1"/>
              </a:solidFill>
              <a:latin typeface="Canva Sans Bold" panose="020B0604020202020204" charset="0"/>
            </a:endParaRPr>
          </a:p>
        </p:txBody>
      </p:sp>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82358" y="2760608"/>
            <a:ext cx="7993596" cy="49360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1" name="Picture 30"/>
          <p:cNvPicPr>
            <a:picLocks noChangeAspect="1"/>
          </p:cNvPicPr>
          <p:nvPr/>
        </p:nvPicPr>
        <p:blipFill>
          <a:blip r:embed="rId3"/>
          <a:stretch>
            <a:fillRect/>
          </a:stretch>
        </p:blipFill>
        <p:spPr>
          <a:xfrm>
            <a:off x="-2372154" y="-2036280"/>
            <a:ext cx="5063160" cy="5063160"/>
          </a:xfrm>
          <a:prstGeom prst="rect">
            <a:avLst/>
          </a:prstGeom>
        </p:spPr>
      </p:pic>
      <p:pic>
        <p:nvPicPr>
          <p:cNvPr id="32" name="Picture 31"/>
          <p:cNvPicPr>
            <a:picLocks noChangeAspect="1"/>
          </p:cNvPicPr>
          <p:nvPr/>
        </p:nvPicPr>
        <p:blipFill>
          <a:blip r:embed="rId3"/>
          <a:stretch>
            <a:fillRect/>
          </a:stretch>
        </p:blipFill>
        <p:spPr>
          <a:xfrm>
            <a:off x="15556009" y="7260120"/>
            <a:ext cx="5063160" cy="5063160"/>
          </a:xfrm>
          <a:prstGeom prst="rect">
            <a:avLst/>
          </a:prstGeom>
        </p:spPr>
      </p:pic>
      <p:pic>
        <p:nvPicPr>
          <p:cNvPr id="33" name="Picture 32"/>
          <p:cNvPicPr>
            <a:picLocks noChangeAspect="1"/>
          </p:cNvPicPr>
          <p:nvPr/>
        </p:nvPicPr>
        <p:blipFill>
          <a:blip r:embed="rId4"/>
          <a:stretch>
            <a:fillRect/>
          </a:stretch>
        </p:blipFill>
        <p:spPr>
          <a:xfrm>
            <a:off x="-834157" y="6363573"/>
            <a:ext cx="2621507" cy="2627604"/>
          </a:xfrm>
          <a:prstGeom prst="rect">
            <a:avLst/>
          </a:prstGeom>
        </p:spPr>
      </p:pic>
      <p:pic>
        <p:nvPicPr>
          <p:cNvPr id="34" name="Picture 33"/>
          <p:cNvPicPr>
            <a:picLocks noChangeAspect="1"/>
          </p:cNvPicPr>
          <p:nvPr/>
        </p:nvPicPr>
        <p:blipFill>
          <a:blip r:embed="rId4"/>
          <a:stretch>
            <a:fillRect/>
          </a:stretch>
        </p:blipFill>
        <p:spPr>
          <a:xfrm>
            <a:off x="16576850" y="1101684"/>
            <a:ext cx="2621507" cy="2627604"/>
          </a:xfrm>
          <a:prstGeom prst="rect">
            <a:avLst/>
          </a:prstGeom>
        </p:spPr>
      </p:pic>
      <p:sp>
        <p:nvSpPr>
          <p:cNvPr id="36" name="TextBox 35"/>
          <p:cNvSpPr txBox="1"/>
          <p:nvPr/>
        </p:nvSpPr>
        <p:spPr>
          <a:xfrm>
            <a:off x="10306244" y="2742843"/>
            <a:ext cx="6212735" cy="4801314"/>
          </a:xfrm>
          <a:prstGeom prst="rect">
            <a:avLst/>
          </a:prstGeom>
          <a:noFill/>
        </p:spPr>
        <p:txBody>
          <a:bodyPr wrap="square" rtlCol="0">
            <a:spAutoFit/>
          </a:bodyPr>
          <a:lstStyle/>
          <a:p>
            <a:pPr marL="457200" lvl="0" indent="-457200">
              <a:buFont typeface="Arial" panose="020B0604020202020204" pitchFamily="34" charset="0"/>
              <a:buChar char="•"/>
            </a:pPr>
            <a:r>
              <a:rPr lang="en-US" sz="3200" dirty="0">
                <a:solidFill>
                  <a:schemeClr val="bg1"/>
                </a:solidFill>
              </a:rPr>
              <a:t>This intervention is a response to the alarming prevalence of HIV within the MSM and TGW communities. </a:t>
            </a:r>
          </a:p>
          <a:p>
            <a:pPr marL="457200" lvl="0" indent="-457200">
              <a:buFont typeface="Arial" panose="020B0604020202020204" pitchFamily="34" charset="0"/>
              <a:buChar char="•"/>
            </a:pPr>
            <a:r>
              <a:rPr lang="en-US" sz="3200" dirty="0">
                <a:solidFill>
                  <a:schemeClr val="bg1"/>
                </a:solidFill>
              </a:rPr>
              <a:t>This intervention is crucial to mitigate the ongoing spread of HIV and improve </a:t>
            </a:r>
            <a:r>
              <a:rPr lang="en-US" sz="3200" dirty="0" smtClean="0">
                <a:solidFill>
                  <a:schemeClr val="bg1"/>
                </a:solidFill>
              </a:rPr>
              <a:t>the overall </a:t>
            </a:r>
            <a:r>
              <a:rPr lang="en-US" sz="3200" dirty="0">
                <a:solidFill>
                  <a:schemeClr val="bg1"/>
                </a:solidFill>
              </a:rPr>
              <a:t>health of the LGBTQ+ Community. </a:t>
            </a:r>
          </a:p>
          <a:p>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EAF3E"/>
        </a:solidFill>
        <a:effectLst/>
      </p:bgPr>
    </p:bg>
    <p:spTree>
      <p:nvGrpSpPr>
        <p:cNvPr id="1" name=""/>
        <p:cNvGrpSpPr/>
        <p:nvPr/>
      </p:nvGrpSpPr>
      <p:grpSpPr>
        <a:xfrm>
          <a:off x="0" y="0"/>
          <a:ext cx="0" cy="0"/>
          <a:chOff x="0" y="0"/>
          <a:chExt cx="0" cy="0"/>
        </a:xfrm>
      </p:grpSpPr>
      <p:grpSp>
        <p:nvGrpSpPr>
          <p:cNvPr id="5" name="Group 5"/>
          <p:cNvGrpSpPr/>
          <p:nvPr/>
        </p:nvGrpSpPr>
        <p:grpSpPr>
          <a:xfrm rot="-10800000">
            <a:off x="1320129" y="5869521"/>
            <a:ext cx="4918723" cy="1473374"/>
            <a:chOff x="0" y="0"/>
            <a:chExt cx="1073340" cy="321513"/>
          </a:xfrm>
        </p:grpSpPr>
        <p:sp>
          <p:nvSpPr>
            <p:cNvPr id="6" name="Freeform 6"/>
            <p:cNvSpPr/>
            <p:nvPr/>
          </p:nvSpPr>
          <p:spPr>
            <a:xfrm>
              <a:off x="0" y="0"/>
              <a:ext cx="1073340" cy="321513"/>
            </a:xfrm>
            <a:custGeom>
              <a:avLst/>
              <a:gdLst/>
              <a:ahLst/>
              <a:cxnLst/>
              <a:rect l="l" t="t" r="r" b="b"/>
              <a:pathLst>
                <a:path w="1073340" h="321513">
                  <a:moveTo>
                    <a:pt x="1073340" y="0"/>
                  </a:moveTo>
                  <a:lnTo>
                    <a:pt x="1073340" y="207213"/>
                  </a:lnTo>
                  <a:lnTo>
                    <a:pt x="536670" y="321513"/>
                  </a:lnTo>
                  <a:lnTo>
                    <a:pt x="0" y="207213"/>
                  </a:lnTo>
                  <a:lnTo>
                    <a:pt x="0" y="0"/>
                  </a:lnTo>
                  <a:lnTo>
                    <a:pt x="1073340" y="0"/>
                  </a:lnTo>
                  <a:close/>
                </a:path>
              </a:pathLst>
            </a:custGeom>
            <a:solidFill>
              <a:srgbClr val="D82706"/>
            </a:solidFill>
          </p:spPr>
        </p:sp>
        <p:sp>
          <p:nvSpPr>
            <p:cNvPr id="7" name="TextBox 7"/>
            <p:cNvSpPr txBox="1"/>
            <p:nvPr/>
          </p:nvSpPr>
          <p:spPr>
            <a:xfrm>
              <a:off x="0" y="-28575"/>
              <a:ext cx="635000" cy="727075"/>
            </a:xfrm>
            <a:prstGeom prst="rect">
              <a:avLst/>
            </a:prstGeom>
          </p:spPr>
          <p:txBody>
            <a:bodyPr lIns="50800" tIns="50800" rIns="50800" bIns="50800" rtlCol="0" anchor="ctr"/>
            <a:lstStyle/>
            <a:p>
              <a:pPr algn="ctr">
                <a:lnSpc>
                  <a:spcPts val="2590"/>
                </a:lnSpc>
              </a:pPr>
              <a:endParaRPr/>
            </a:p>
          </p:txBody>
        </p:sp>
      </p:grpSp>
      <p:sp>
        <p:nvSpPr>
          <p:cNvPr id="10" name="TextBox 10"/>
          <p:cNvSpPr txBox="1"/>
          <p:nvPr/>
        </p:nvSpPr>
        <p:spPr>
          <a:xfrm>
            <a:off x="628836" y="2003502"/>
            <a:ext cx="3086100" cy="1303761"/>
          </a:xfrm>
          <a:prstGeom prst="rect">
            <a:avLst/>
          </a:prstGeom>
        </p:spPr>
        <p:txBody>
          <a:bodyPr lIns="215900" tIns="215900" rIns="215900" bIns="215900" rtlCol="0" anchor="ctr"/>
          <a:lstStyle/>
          <a:p>
            <a:pPr marL="0" lvl="0" indent="0" algn="ctr">
              <a:lnSpc>
                <a:spcPts val="5179"/>
              </a:lnSpc>
              <a:spcBef>
                <a:spcPct val="0"/>
              </a:spcBef>
            </a:pPr>
            <a:r>
              <a:rPr lang="en-US" sz="6000" dirty="0" smtClean="0">
                <a:solidFill>
                  <a:srgbClr val="FFFFFF"/>
                </a:solidFill>
                <a:latin typeface="Canva Sans Bold"/>
              </a:rPr>
              <a:t>Goal:</a:t>
            </a:r>
            <a:endParaRPr lang="en-US" sz="6000" dirty="0">
              <a:solidFill>
                <a:srgbClr val="FFFFFF"/>
              </a:solidFill>
              <a:latin typeface="Canva Sans Bold"/>
            </a:endParaRPr>
          </a:p>
        </p:txBody>
      </p:sp>
      <p:grpSp>
        <p:nvGrpSpPr>
          <p:cNvPr id="14" name="Group 14"/>
          <p:cNvGrpSpPr/>
          <p:nvPr/>
        </p:nvGrpSpPr>
        <p:grpSpPr>
          <a:xfrm rot="-10800000">
            <a:off x="6766739" y="5869521"/>
            <a:ext cx="4918723" cy="1473374"/>
            <a:chOff x="0" y="0"/>
            <a:chExt cx="1073340" cy="321513"/>
          </a:xfrm>
        </p:grpSpPr>
        <p:sp>
          <p:nvSpPr>
            <p:cNvPr id="15" name="Freeform 15"/>
            <p:cNvSpPr/>
            <p:nvPr/>
          </p:nvSpPr>
          <p:spPr>
            <a:xfrm>
              <a:off x="0" y="0"/>
              <a:ext cx="1073340" cy="321513"/>
            </a:xfrm>
            <a:custGeom>
              <a:avLst/>
              <a:gdLst/>
              <a:ahLst/>
              <a:cxnLst/>
              <a:rect l="l" t="t" r="r" b="b"/>
              <a:pathLst>
                <a:path w="1073340" h="321513">
                  <a:moveTo>
                    <a:pt x="1073340" y="0"/>
                  </a:moveTo>
                  <a:lnTo>
                    <a:pt x="1073340" y="207213"/>
                  </a:lnTo>
                  <a:lnTo>
                    <a:pt x="536670" y="321513"/>
                  </a:lnTo>
                  <a:lnTo>
                    <a:pt x="0" y="207213"/>
                  </a:lnTo>
                  <a:lnTo>
                    <a:pt x="0" y="0"/>
                  </a:lnTo>
                  <a:lnTo>
                    <a:pt x="1073340" y="0"/>
                  </a:lnTo>
                  <a:close/>
                </a:path>
              </a:pathLst>
            </a:custGeom>
            <a:solidFill>
              <a:srgbClr val="D82706"/>
            </a:solidFill>
          </p:spPr>
        </p:sp>
        <p:sp>
          <p:nvSpPr>
            <p:cNvPr id="16" name="TextBox 16"/>
            <p:cNvSpPr txBox="1"/>
            <p:nvPr/>
          </p:nvSpPr>
          <p:spPr>
            <a:xfrm>
              <a:off x="0" y="-28575"/>
              <a:ext cx="635000" cy="727075"/>
            </a:xfrm>
            <a:prstGeom prst="rect">
              <a:avLst/>
            </a:prstGeom>
          </p:spPr>
          <p:txBody>
            <a:bodyPr lIns="50800" tIns="50800" rIns="50800" bIns="50800" rtlCol="0" anchor="ctr"/>
            <a:lstStyle/>
            <a:p>
              <a:pPr algn="ctr">
                <a:lnSpc>
                  <a:spcPts val="2590"/>
                </a:lnSpc>
              </a:pPr>
              <a:endParaRPr/>
            </a:p>
          </p:txBody>
        </p:sp>
      </p:grpSp>
      <p:grpSp>
        <p:nvGrpSpPr>
          <p:cNvPr id="20" name="Group 20"/>
          <p:cNvGrpSpPr/>
          <p:nvPr/>
        </p:nvGrpSpPr>
        <p:grpSpPr>
          <a:xfrm rot="-10800000">
            <a:off x="12011047" y="5869521"/>
            <a:ext cx="4918723" cy="1473374"/>
            <a:chOff x="0" y="0"/>
            <a:chExt cx="1073340" cy="321513"/>
          </a:xfrm>
        </p:grpSpPr>
        <p:sp>
          <p:nvSpPr>
            <p:cNvPr id="21" name="Freeform 21"/>
            <p:cNvSpPr/>
            <p:nvPr/>
          </p:nvSpPr>
          <p:spPr>
            <a:xfrm>
              <a:off x="0" y="0"/>
              <a:ext cx="1073340" cy="321513"/>
            </a:xfrm>
            <a:custGeom>
              <a:avLst/>
              <a:gdLst/>
              <a:ahLst/>
              <a:cxnLst/>
              <a:rect l="l" t="t" r="r" b="b"/>
              <a:pathLst>
                <a:path w="1073340" h="321513">
                  <a:moveTo>
                    <a:pt x="1073340" y="0"/>
                  </a:moveTo>
                  <a:lnTo>
                    <a:pt x="1073340" y="207213"/>
                  </a:lnTo>
                  <a:lnTo>
                    <a:pt x="536670" y="321513"/>
                  </a:lnTo>
                  <a:lnTo>
                    <a:pt x="0" y="207213"/>
                  </a:lnTo>
                  <a:lnTo>
                    <a:pt x="0" y="0"/>
                  </a:lnTo>
                  <a:lnTo>
                    <a:pt x="1073340" y="0"/>
                  </a:lnTo>
                  <a:close/>
                </a:path>
              </a:pathLst>
            </a:custGeom>
            <a:solidFill>
              <a:srgbClr val="D82706"/>
            </a:solidFill>
          </p:spPr>
        </p:sp>
        <p:sp>
          <p:nvSpPr>
            <p:cNvPr id="22" name="TextBox 22"/>
            <p:cNvSpPr txBox="1"/>
            <p:nvPr/>
          </p:nvSpPr>
          <p:spPr>
            <a:xfrm>
              <a:off x="0" y="-28575"/>
              <a:ext cx="635000" cy="727075"/>
            </a:xfrm>
            <a:prstGeom prst="rect">
              <a:avLst/>
            </a:prstGeom>
          </p:spPr>
          <p:txBody>
            <a:bodyPr lIns="50800" tIns="50800" rIns="50800" bIns="50800" rtlCol="0" anchor="ctr"/>
            <a:lstStyle/>
            <a:p>
              <a:pPr algn="ctr">
                <a:lnSpc>
                  <a:spcPts val="2590"/>
                </a:lnSpc>
              </a:pPr>
              <a:endParaRPr/>
            </a:p>
          </p:txBody>
        </p:sp>
      </p:grpSp>
      <p:grpSp>
        <p:nvGrpSpPr>
          <p:cNvPr id="23" name="Group 23"/>
          <p:cNvGrpSpPr/>
          <p:nvPr/>
        </p:nvGrpSpPr>
        <p:grpSpPr>
          <a:xfrm>
            <a:off x="15112735" y="8140435"/>
            <a:ext cx="4293129" cy="4293129"/>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25" name="TextBox 25"/>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grpSp>
        <p:nvGrpSpPr>
          <p:cNvPr id="26" name="Group 26"/>
          <p:cNvGrpSpPr/>
          <p:nvPr/>
        </p:nvGrpSpPr>
        <p:grpSpPr>
          <a:xfrm>
            <a:off x="-1613155" y="-2146565"/>
            <a:ext cx="4293129" cy="4293129"/>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28" name="TextBox 28"/>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sp>
        <p:nvSpPr>
          <p:cNvPr id="29" name="Freeform 29"/>
          <p:cNvSpPr/>
          <p:nvPr/>
        </p:nvSpPr>
        <p:spPr>
          <a:xfrm>
            <a:off x="15389711" y="-1175164"/>
            <a:ext cx="4016153" cy="2203864"/>
          </a:xfrm>
          <a:custGeom>
            <a:avLst/>
            <a:gdLst/>
            <a:ahLst/>
            <a:cxnLst/>
            <a:rect l="l" t="t" r="r" b="b"/>
            <a:pathLst>
              <a:path w="4016153" h="2203864">
                <a:moveTo>
                  <a:pt x="0" y="0"/>
                </a:moveTo>
                <a:lnTo>
                  <a:pt x="4016154" y="0"/>
                </a:lnTo>
                <a:lnTo>
                  <a:pt x="4016154" y="2203864"/>
                </a:lnTo>
                <a:lnTo>
                  <a:pt x="0" y="220386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0" name="TextBox 30"/>
          <p:cNvSpPr txBox="1"/>
          <p:nvPr/>
        </p:nvSpPr>
        <p:spPr>
          <a:xfrm>
            <a:off x="1743903" y="6582151"/>
            <a:ext cx="4071174" cy="487762"/>
          </a:xfrm>
          <a:prstGeom prst="rect">
            <a:avLst/>
          </a:prstGeom>
        </p:spPr>
        <p:txBody>
          <a:bodyPr lIns="0" tIns="0" rIns="0" bIns="0" rtlCol="0" anchor="t">
            <a:spAutoFit/>
          </a:bodyPr>
          <a:lstStyle/>
          <a:p>
            <a:pPr algn="ctr">
              <a:lnSpc>
                <a:spcPts val="3709"/>
              </a:lnSpc>
              <a:spcBef>
                <a:spcPct val="0"/>
              </a:spcBef>
            </a:pPr>
            <a:r>
              <a:rPr lang="en-US" sz="3600" dirty="0" smtClean="0">
                <a:solidFill>
                  <a:srgbClr val="FFFAEB"/>
                </a:solidFill>
                <a:latin typeface="DM Sans Bold"/>
              </a:rPr>
              <a:t>Knowledge</a:t>
            </a:r>
            <a:endParaRPr lang="en-US" sz="3600" dirty="0">
              <a:solidFill>
                <a:srgbClr val="FFFAEB"/>
              </a:solidFill>
              <a:latin typeface="DM Sans Bold"/>
            </a:endParaRPr>
          </a:p>
        </p:txBody>
      </p:sp>
      <p:sp>
        <p:nvSpPr>
          <p:cNvPr id="32" name="TextBox 32"/>
          <p:cNvSpPr txBox="1"/>
          <p:nvPr/>
        </p:nvSpPr>
        <p:spPr>
          <a:xfrm>
            <a:off x="7204536" y="6582151"/>
            <a:ext cx="4071174" cy="487762"/>
          </a:xfrm>
          <a:prstGeom prst="rect">
            <a:avLst/>
          </a:prstGeom>
        </p:spPr>
        <p:txBody>
          <a:bodyPr lIns="0" tIns="0" rIns="0" bIns="0" rtlCol="0" anchor="t">
            <a:spAutoFit/>
          </a:bodyPr>
          <a:lstStyle/>
          <a:p>
            <a:pPr algn="ctr">
              <a:lnSpc>
                <a:spcPts val="3709"/>
              </a:lnSpc>
              <a:spcBef>
                <a:spcPct val="0"/>
              </a:spcBef>
            </a:pPr>
            <a:r>
              <a:rPr lang="en-US" sz="3600" dirty="0" smtClean="0">
                <a:solidFill>
                  <a:srgbClr val="FFFAEB"/>
                </a:solidFill>
                <a:latin typeface="DM Sans Bold"/>
              </a:rPr>
              <a:t>Resources</a:t>
            </a:r>
            <a:r>
              <a:rPr lang="en-US" sz="2649" dirty="0" smtClean="0">
                <a:solidFill>
                  <a:srgbClr val="FFFAEB"/>
                </a:solidFill>
                <a:latin typeface="DM Sans Bold"/>
              </a:rPr>
              <a:t> </a:t>
            </a:r>
            <a:endParaRPr lang="en-US" sz="2649" dirty="0">
              <a:solidFill>
                <a:srgbClr val="FFFAEB"/>
              </a:solidFill>
              <a:latin typeface="DM Sans Bold"/>
            </a:endParaRPr>
          </a:p>
        </p:txBody>
      </p:sp>
      <p:sp>
        <p:nvSpPr>
          <p:cNvPr id="33" name="TextBox 33"/>
          <p:cNvSpPr txBox="1"/>
          <p:nvPr/>
        </p:nvSpPr>
        <p:spPr>
          <a:xfrm>
            <a:off x="12472922" y="6257485"/>
            <a:ext cx="4071174" cy="962251"/>
          </a:xfrm>
          <a:prstGeom prst="rect">
            <a:avLst/>
          </a:prstGeom>
        </p:spPr>
        <p:txBody>
          <a:bodyPr lIns="0" tIns="0" rIns="0" bIns="0" rtlCol="0" anchor="t">
            <a:spAutoFit/>
          </a:bodyPr>
          <a:lstStyle/>
          <a:p>
            <a:pPr algn="ctr">
              <a:lnSpc>
                <a:spcPts val="3709"/>
              </a:lnSpc>
              <a:spcBef>
                <a:spcPct val="0"/>
              </a:spcBef>
            </a:pPr>
            <a:r>
              <a:rPr lang="en-US" sz="3600" dirty="0" smtClean="0">
                <a:solidFill>
                  <a:srgbClr val="FFFAEB"/>
                </a:solidFill>
                <a:latin typeface="DM Sans Bold"/>
              </a:rPr>
              <a:t>Supportive </a:t>
            </a:r>
            <a:r>
              <a:rPr lang="en-US" sz="3600" dirty="0">
                <a:solidFill>
                  <a:srgbClr val="FFFAEB"/>
                </a:solidFill>
                <a:latin typeface="DM Sans Bold"/>
              </a:rPr>
              <a:t>environment </a:t>
            </a:r>
            <a:endParaRPr lang="en-US" sz="3600" dirty="0">
              <a:solidFill>
                <a:srgbClr val="FFFAEB"/>
              </a:solidFill>
              <a:latin typeface="DM Sans Bold"/>
            </a:endParaRPr>
          </a:p>
        </p:txBody>
      </p:sp>
      <p:sp>
        <p:nvSpPr>
          <p:cNvPr id="34" name="Freeform 34"/>
          <p:cNvSpPr/>
          <p:nvPr/>
        </p:nvSpPr>
        <p:spPr>
          <a:xfrm>
            <a:off x="-1474667" y="9379003"/>
            <a:ext cx="4016153" cy="2203864"/>
          </a:xfrm>
          <a:custGeom>
            <a:avLst/>
            <a:gdLst/>
            <a:ahLst/>
            <a:cxnLst/>
            <a:rect l="l" t="t" r="r" b="b"/>
            <a:pathLst>
              <a:path w="4016153" h="2203864">
                <a:moveTo>
                  <a:pt x="0" y="0"/>
                </a:moveTo>
                <a:lnTo>
                  <a:pt x="4016153" y="0"/>
                </a:lnTo>
                <a:lnTo>
                  <a:pt x="4016153" y="2203864"/>
                </a:lnTo>
                <a:lnTo>
                  <a:pt x="0" y="220386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6" name="TextBox 36"/>
          <p:cNvSpPr txBox="1"/>
          <p:nvPr/>
        </p:nvSpPr>
        <p:spPr>
          <a:xfrm>
            <a:off x="1312509" y="4141930"/>
            <a:ext cx="16270268" cy="1107996"/>
          </a:xfrm>
          <a:prstGeom prst="rect">
            <a:avLst/>
          </a:prstGeom>
        </p:spPr>
        <p:txBody>
          <a:bodyPr wrap="square" lIns="0" tIns="0" rIns="0" bIns="0" rtlCol="0" anchor="t">
            <a:spAutoFit/>
          </a:bodyPr>
          <a:lstStyle/>
          <a:p>
            <a:r>
              <a:rPr lang="en-US" sz="3600" dirty="0">
                <a:solidFill>
                  <a:schemeClr val="bg1"/>
                </a:solidFill>
              </a:rPr>
              <a:t>To Decrease HIV Infection among Men Who Sleep with Men and Transgender Women</a:t>
            </a:r>
          </a:p>
          <a:p>
            <a:r>
              <a:rPr lang="en-US" sz="3600" dirty="0">
                <a:solidFill>
                  <a:schemeClr val="bg1"/>
                </a:solidFill>
              </a:rPr>
              <a:t>This intervention aims to empower these communities with</a:t>
            </a:r>
            <a:r>
              <a:rPr lang="en-US" sz="3600" dirty="0" smtClean="0">
                <a:solidFill>
                  <a:schemeClr val="bg1"/>
                </a:solidFill>
              </a:rPr>
              <a:t>:</a:t>
            </a:r>
            <a:endParaRPr lang="en-US" sz="3600" dirty="0">
              <a:solidFill>
                <a:schemeClr val="bg1"/>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EAF3E"/>
        </a:solidFill>
        <a:effectLst/>
      </p:bgPr>
    </p:bg>
    <p:spTree>
      <p:nvGrpSpPr>
        <p:cNvPr id="1" name=""/>
        <p:cNvGrpSpPr/>
        <p:nvPr/>
      </p:nvGrpSpPr>
      <p:grpSpPr>
        <a:xfrm>
          <a:off x="0" y="0"/>
          <a:ext cx="0" cy="0"/>
          <a:chOff x="0" y="0"/>
          <a:chExt cx="0" cy="0"/>
        </a:xfrm>
      </p:grpSpPr>
      <p:grpSp>
        <p:nvGrpSpPr>
          <p:cNvPr id="6" name="Group 6"/>
          <p:cNvGrpSpPr/>
          <p:nvPr/>
        </p:nvGrpSpPr>
        <p:grpSpPr>
          <a:xfrm>
            <a:off x="15201900" y="0"/>
            <a:ext cx="3086100" cy="10287000"/>
            <a:chOff x="0" y="0"/>
            <a:chExt cx="812800" cy="2709333"/>
          </a:xfrm>
          <a:solidFill>
            <a:srgbClr val="E2311E"/>
          </a:solidFill>
        </p:grpSpPr>
        <p:sp>
          <p:nvSpPr>
            <p:cNvPr id="7" name="Freeform 7"/>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grpFill/>
          </p:spPr>
        </p:sp>
        <p:sp>
          <p:nvSpPr>
            <p:cNvPr id="8" name="TextBox 8"/>
            <p:cNvSpPr txBox="1"/>
            <p:nvPr/>
          </p:nvSpPr>
          <p:spPr>
            <a:xfrm>
              <a:off x="0" y="-28575"/>
              <a:ext cx="812800" cy="841375"/>
            </a:xfrm>
            <a:prstGeom prst="rect">
              <a:avLst/>
            </a:prstGeom>
            <a:grpFill/>
          </p:spPr>
          <p:txBody>
            <a:bodyPr lIns="50800" tIns="50800" rIns="50800" bIns="50800" rtlCol="0" anchor="ctr"/>
            <a:lstStyle/>
            <a:p>
              <a:pPr algn="ctr">
                <a:lnSpc>
                  <a:spcPts val="2590"/>
                </a:lnSpc>
              </a:pPr>
              <a:endParaRPr/>
            </a:p>
          </p:txBody>
        </p:sp>
      </p:grpSp>
      <p:sp>
        <p:nvSpPr>
          <p:cNvPr id="9" name="TextBox 9"/>
          <p:cNvSpPr txBox="1"/>
          <p:nvPr/>
        </p:nvSpPr>
        <p:spPr>
          <a:xfrm>
            <a:off x="1518357" y="730571"/>
            <a:ext cx="6724410" cy="864276"/>
          </a:xfrm>
          <a:prstGeom prst="rect">
            <a:avLst/>
          </a:prstGeom>
        </p:spPr>
        <p:txBody>
          <a:bodyPr lIns="0" tIns="0" rIns="0" bIns="0" rtlCol="0" anchor="t">
            <a:spAutoFit/>
          </a:bodyPr>
          <a:lstStyle/>
          <a:p>
            <a:pPr>
              <a:lnSpc>
                <a:spcPts val="6699"/>
              </a:lnSpc>
            </a:pPr>
            <a:r>
              <a:rPr lang="en-US" sz="6000" dirty="0" smtClean="0">
                <a:solidFill>
                  <a:schemeClr val="bg1"/>
                </a:solidFill>
                <a:latin typeface="DM Sans Bold"/>
              </a:rPr>
              <a:t>Objectives:</a:t>
            </a:r>
            <a:endParaRPr lang="en-US" sz="6000" dirty="0">
              <a:solidFill>
                <a:schemeClr val="bg1"/>
              </a:solidFill>
              <a:latin typeface="DM Sans Bold"/>
            </a:endParaRPr>
          </a:p>
        </p:txBody>
      </p:sp>
      <p:sp>
        <p:nvSpPr>
          <p:cNvPr id="10" name="TextBox 10"/>
          <p:cNvSpPr txBox="1"/>
          <p:nvPr/>
        </p:nvSpPr>
        <p:spPr>
          <a:xfrm>
            <a:off x="1541217" y="2643505"/>
            <a:ext cx="12403383" cy="6093976"/>
          </a:xfrm>
          <a:prstGeom prst="rect">
            <a:avLst/>
          </a:prstGeom>
        </p:spPr>
        <p:txBody>
          <a:bodyPr wrap="square" lIns="0" tIns="0" rIns="0" bIns="0" rtlCol="0" anchor="t">
            <a:spAutoFit/>
          </a:bodyPr>
          <a:lstStyle/>
          <a:p>
            <a:pPr marL="742950" indent="-742950">
              <a:spcBef>
                <a:spcPct val="0"/>
              </a:spcBef>
              <a:buFont typeface="+mj-lt"/>
              <a:buAutoNum type="arabicPeriod"/>
            </a:pPr>
            <a:r>
              <a:rPr lang="en-US" sz="3600" dirty="0" smtClean="0">
                <a:solidFill>
                  <a:schemeClr val="bg1"/>
                </a:solidFill>
                <a:latin typeface="DM Sans"/>
              </a:rPr>
              <a:t>Provide </a:t>
            </a:r>
            <a:r>
              <a:rPr lang="en-US" sz="3600" dirty="0">
                <a:solidFill>
                  <a:schemeClr val="bg1"/>
                </a:solidFill>
                <a:latin typeface="DM Sans"/>
              </a:rPr>
              <a:t>pre-exposure prophylaxis to 100% of eligible MSM and TGW within the target population by the end of 2024.</a:t>
            </a:r>
          </a:p>
          <a:p>
            <a:pPr marL="742950" indent="-742950">
              <a:spcBef>
                <a:spcPct val="0"/>
              </a:spcBef>
              <a:buFont typeface="+mj-lt"/>
              <a:buAutoNum type="arabicPeriod"/>
            </a:pPr>
            <a:r>
              <a:rPr lang="en-US" sz="3600" dirty="0" smtClean="0">
                <a:solidFill>
                  <a:schemeClr val="bg1"/>
                </a:solidFill>
                <a:latin typeface="DM Sans"/>
              </a:rPr>
              <a:t>Implement </a:t>
            </a:r>
            <a:r>
              <a:rPr lang="en-US" sz="3600" dirty="0">
                <a:solidFill>
                  <a:schemeClr val="bg1"/>
                </a:solidFill>
                <a:latin typeface="DM Sans"/>
              </a:rPr>
              <a:t>a comprehensive HIV education program reaching 90% of the MSM and TGW population by the end of 2024.</a:t>
            </a:r>
          </a:p>
          <a:p>
            <a:pPr marL="742950" indent="-742950">
              <a:spcBef>
                <a:spcPct val="0"/>
              </a:spcBef>
              <a:buFont typeface="+mj-lt"/>
              <a:buAutoNum type="arabicPeriod"/>
            </a:pPr>
            <a:r>
              <a:rPr lang="en-US" sz="3600" dirty="0" smtClean="0">
                <a:solidFill>
                  <a:schemeClr val="bg1"/>
                </a:solidFill>
                <a:latin typeface="DM Sans"/>
              </a:rPr>
              <a:t>Increase </a:t>
            </a:r>
            <a:r>
              <a:rPr lang="en-US" sz="3600" dirty="0">
                <a:solidFill>
                  <a:schemeClr val="bg1"/>
                </a:solidFill>
                <a:latin typeface="DM Sans"/>
              </a:rPr>
              <a:t>condom usage by 30% in MSM and TGW by the end of 2024.</a:t>
            </a:r>
          </a:p>
          <a:p>
            <a:pPr marL="742950" indent="-742950">
              <a:spcBef>
                <a:spcPct val="0"/>
              </a:spcBef>
              <a:buFont typeface="+mj-lt"/>
              <a:buAutoNum type="arabicPeriod"/>
            </a:pPr>
            <a:r>
              <a:rPr lang="en-US" sz="3600" dirty="0" smtClean="0">
                <a:solidFill>
                  <a:schemeClr val="bg1"/>
                </a:solidFill>
                <a:latin typeface="DM Sans"/>
              </a:rPr>
              <a:t>Increase </a:t>
            </a:r>
            <a:r>
              <a:rPr lang="en-US" sz="3600" dirty="0">
                <a:solidFill>
                  <a:schemeClr val="bg1"/>
                </a:solidFill>
                <a:latin typeface="DM Sans"/>
              </a:rPr>
              <a:t>access to comprehensive HIV prevention and treatment services for MSM and TGW, resulting in a 20% increase in utilization by the end of 2024.</a:t>
            </a:r>
            <a:endParaRPr lang="en-US" sz="3600" dirty="0">
              <a:solidFill>
                <a:schemeClr val="bg1"/>
              </a:solidFill>
              <a:latin typeface="DM San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EAF3E"/>
        </a:solidFill>
        <a:effectLst/>
      </p:bgPr>
    </p:bg>
    <p:spTree>
      <p:nvGrpSpPr>
        <p:cNvPr id="1" name=""/>
        <p:cNvGrpSpPr/>
        <p:nvPr/>
      </p:nvGrpSpPr>
      <p:grpSpPr>
        <a:xfrm>
          <a:off x="0" y="0"/>
          <a:ext cx="0" cy="0"/>
          <a:chOff x="0" y="0"/>
          <a:chExt cx="0" cy="0"/>
        </a:xfrm>
      </p:grpSpPr>
      <p:graphicFrame>
        <p:nvGraphicFramePr>
          <p:cNvPr id="18" name="Diagram 17"/>
          <p:cNvGraphicFramePr/>
          <p:nvPr>
            <p:extLst>
              <p:ext uri="{D42A27DB-BD31-4B8C-83A1-F6EECF244321}">
                <p14:modId xmlns:p14="http://schemas.microsoft.com/office/powerpoint/2010/main" val="2325632648"/>
              </p:ext>
            </p:extLst>
          </p:nvPr>
        </p:nvGraphicFramePr>
        <p:xfrm>
          <a:off x="228600" y="419100"/>
          <a:ext cx="18059400" cy="929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34539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EAF3E"/>
        </a:solidFill>
        <a:effectLst/>
      </p:bgPr>
    </p:bg>
    <p:spTree>
      <p:nvGrpSpPr>
        <p:cNvPr id="1" name=""/>
        <p:cNvGrpSpPr/>
        <p:nvPr/>
      </p:nvGrpSpPr>
      <p:grpSpPr>
        <a:xfrm>
          <a:off x="0" y="0"/>
          <a:ext cx="0" cy="0"/>
          <a:chOff x="0" y="0"/>
          <a:chExt cx="0" cy="0"/>
        </a:xfrm>
      </p:grpSpPr>
      <p:pic>
        <p:nvPicPr>
          <p:cNvPr id="36" name="Picture 35"/>
          <p:cNvPicPr>
            <a:picLocks noChangeAspect="1"/>
          </p:cNvPicPr>
          <p:nvPr/>
        </p:nvPicPr>
        <p:blipFill>
          <a:blip r:embed="rId2"/>
          <a:stretch>
            <a:fillRect/>
          </a:stretch>
        </p:blipFill>
        <p:spPr>
          <a:xfrm>
            <a:off x="11658600" y="2033025"/>
            <a:ext cx="6377110" cy="6359700"/>
          </a:xfrm>
          <a:prstGeom prst="rect">
            <a:avLst/>
          </a:prstGeom>
        </p:spPr>
      </p:pic>
      <p:sp>
        <p:nvSpPr>
          <p:cNvPr id="10" name="TextBox 10"/>
          <p:cNvSpPr txBox="1"/>
          <p:nvPr/>
        </p:nvSpPr>
        <p:spPr>
          <a:xfrm>
            <a:off x="12088274" y="4329171"/>
            <a:ext cx="5517761" cy="1767407"/>
          </a:xfrm>
          <a:prstGeom prst="rect">
            <a:avLst/>
          </a:prstGeom>
        </p:spPr>
        <p:txBody>
          <a:bodyPr wrap="square" lIns="0" tIns="0" rIns="0" bIns="0" rtlCol="0" anchor="t">
            <a:spAutoFit/>
          </a:bodyPr>
          <a:lstStyle/>
          <a:p>
            <a:pPr algn="ctr">
              <a:lnSpc>
                <a:spcPts val="6699"/>
              </a:lnSpc>
            </a:pPr>
            <a:r>
              <a:rPr lang="en-US" sz="7200" dirty="0" smtClean="0">
                <a:solidFill>
                  <a:schemeClr val="bg1"/>
                </a:solidFill>
                <a:latin typeface="DM Sans Bold"/>
              </a:rPr>
              <a:t>Evaluation</a:t>
            </a:r>
          </a:p>
          <a:p>
            <a:pPr algn="ctr">
              <a:lnSpc>
                <a:spcPts val="6699"/>
              </a:lnSpc>
            </a:pPr>
            <a:r>
              <a:rPr lang="en-US" sz="7200" dirty="0" smtClean="0">
                <a:solidFill>
                  <a:schemeClr val="bg1"/>
                </a:solidFill>
                <a:latin typeface="DM Sans Bold"/>
              </a:rPr>
              <a:t>Plan</a:t>
            </a:r>
            <a:endParaRPr lang="en-US" sz="7200" dirty="0">
              <a:solidFill>
                <a:schemeClr val="bg1"/>
              </a:solidFill>
              <a:latin typeface="DM Sans Bold"/>
            </a:endParaRPr>
          </a:p>
        </p:txBody>
      </p:sp>
      <p:pic>
        <p:nvPicPr>
          <p:cNvPr id="31" name="Picture 30"/>
          <p:cNvPicPr>
            <a:picLocks noChangeAspect="1"/>
          </p:cNvPicPr>
          <p:nvPr/>
        </p:nvPicPr>
        <p:blipFill>
          <a:blip r:embed="rId3"/>
          <a:stretch>
            <a:fillRect/>
          </a:stretch>
        </p:blipFill>
        <p:spPr>
          <a:xfrm>
            <a:off x="10313717" y="444304"/>
            <a:ext cx="487722" cy="487722"/>
          </a:xfrm>
          <a:prstGeom prst="rect">
            <a:avLst/>
          </a:prstGeom>
        </p:spPr>
      </p:pic>
      <p:pic>
        <p:nvPicPr>
          <p:cNvPr id="32" name="Picture 31"/>
          <p:cNvPicPr>
            <a:picLocks noChangeAspect="1"/>
          </p:cNvPicPr>
          <p:nvPr/>
        </p:nvPicPr>
        <p:blipFill>
          <a:blip r:embed="rId4"/>
          <a:stretch>
            <a:fillRect/>
          </a:stretch>
        </p:blipFill>
        <p:spPr>
          <a:xfrm>
            <a:off x="1600200" y="-610396"/>
            <a:ext cx="1536325" cy="1542422"/>
          </a:xfrm>
          <a:prstGeom prst="rect">
            <a:avLst/>
          </a:prstGeom>
        </p:spPr>
      </p:pic>
      <p:graphicFrame>
        <p:nvGraphicFramePr>
          <p:cNvPr id="35" name="Table 34"/>
          <p:cNvGraphicFramePr>
            <a:graphicFrameLocks noGrp="1"/>
          </p:cNvGraphicFramePr>
          <p:nvPr>
            <p:extLst>
              <p:ext uri="{D42A27DB-BD31-4B8C-83A1-F6EECF244321}">
                <p14:modId xmlns:p14="http://schemas.microsoft.com/office/powerpoint/2010/main" val="129585184"/>
              </p:ext>
            </p:extLst>
          </p:nvPr>
        </p:nvGraphicFramePr>
        <p:xfrm>
          <a:off x="618773" y="275115"/>
          <a:ext cx="10634894" cy="9875520"/>
        </p:xfrm>
        <a:graphic>
          <a:graphicData uri="http://schemas.openxmlformats.org/drawingml/2006/table">
            <a:tbl>
              <a:tblPr firstRow="1" firstCol="1" bandRow="1">
                <a:tableStyleId>{5DA37D80-6434-44D0-A028-1B22A696006F}</a:tableStyleId>
              </a:tblPr>
              <a:tblGrid>
                <a:gridCol w="1620029">
                  <a:extLst>
                    <a:ext uri="{9D8B030D-6E8A-4147-A177-3AD203B41FA5}">
                      <a16:colId xmlns:a16="http://schemas.microsoft.com/office/drawing/2014/main" val="1614414025"/>
                    </a:ext>
                  </a:extLst>
                </a:gridCol>
                <a:gridCol w="2362847">
                  <a:extLst>
                    <a:ext uri="{9D8B030D-6E8A-4147-A177-3AD203B41FA5}">
                      <a16:colId xmlns:a16="http://schemas.microsoft.com/office/drawing/2014/main" val="472811718"/>
                    </a:ext>
                  </a:extLst>
                </a:gridCol>
                <a:gridCol w="2657681">
                  <a:extLst>
                    <a:ext uri="{9D8B030D-6E8A-4147-A177-3AD203B41FA5}">
                      <a16:colId xmlns:a16="http://schemas.microsoft.com/office/drawing/2014/main" val="2790799160"/>
                    </a:ext>
                  </a:extLst>
                </a:gridCol>
                <a:gridCol w="2214908">
                  <a:extLst>
                    <a:ext uri="{9D8B030D-6E8A-4147-A177-3AD203B41FA5}">
                      <a16:colId xmlns:a16="http://schemas.microsoft.com/office/drawing/2014/main" val="3072047037"/>
                    </a:ext>
                  </a:extLst>
                </a:gridCol>
                <a:gridCol w="1779429">
                  <a:extLst>
                    <a:ext uri="{9D8B030D-6E8A-4147-A177-3AD203B41FA5}">
                      <a16:colId xmlns:a16="http://schemas.microsoft.com/office/drawing/2014/main" val="2898804939"/>
                    </a:ext>
                  </a:extLst>
                </a:gridCol>
              </a:tblGrid>
              <a:tr h="714646">
                <a:tc>
                  <a:txBody>
                    <a:bodyPr/>
                    <a:lstStyle/>
                    <a:p>
                      <a:pPr marL="0" marR="0" algn="l">
                        <a:lnSpc>
                          <a:spcPct val="100000"/>
                        </a:lnSpc>
                        <a:spcBef>
                          <a:spcPts val="0"/>
                        </a:spcBef>
                        <a:spcAft>
                          <a:spcPts val="0"/>
                        </a:spcAft>
                      </a:pPr>
                      <a:r>
                        <a:rPr lang="en-US" sz="2400" kern="100" dirty="0">
                          <a:solidFill>
                            <a:schemeClr val="tx1"/>
                          </a:solidFill>
                          <a:effectLst/>
                        </a:rPr>
                        <a:t>Variable</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dirty="0">
                          <a:solidFill>
                            <a:schemeClr val="tx1"/>
                          </a:solidFill>
                          <a:effectLst/>
                        </a:rPr>
                        <a:t>Evaluation Question</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dirty="0">
                          <a:solidFill>
                            <a:schemeClr val="tx1"/>
                          </a:solidFill>
                          <a:effectLst/>
                        </a:rPr>
                        <a:t>Indicator</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dirty="0">
                          <a:solidFill>
                            <a:schemeClr val="tx1"/>
                          </a:solidFill>
                          <a:effectLst/>
                        </a:rPr>
                        <a:t>Data Source</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dirty="0">
                          <a:solidFill>
                            <a:schemeClr val="tx1"/>
                          </a:solidFill>
                          <a:effectLst/>
                        </a:rPr>
                        <a:t>Timing</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extLst>
                  <a:ext uri="{0D108BD9-81ED-4DB2-BD59-A6C34878D82A}">
                    <a16:rowId xmlns:a16="http://schemas.microsoft.com/office/drawing/2014/main" val="1284461490"/>
                  </a:ext>
                </a:extLst>
              </a:tr>
              <a:tr h="1786614">
                <a:tc>
                  <a:txBody>
                    <a:bodyPr/>
                    <a:lstStyle/>
                    <a:p>
                      <a:pPr marL="0" marR="0" algn="l">
                        <a:lnSpc>
                          <a:spcPct val="100000"/>
                        </a:lnSpc>
                        <a:spcBef>
                          <a:spcPts val="0"/>
                        </a:spcBef>
                        <a:spcAft>
                          <a:spcPts val="0"/>
                        </a:spcAft>
                      </a:pPr>
                      <a:r>
                        <a:rPr lang="en-US" sz="2400" kern="100">
                          <a:solidFill>
                            <a:schemeClr val="tx1"/>
                          </a:solidFill>
                          <a:effectLst/>
                        </a:rPr>
                        <a:t>PrEP uptake</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a:solidFill>
                            <a:schemeClr val="tx1"/>
                          </a:solidFill>
                          <a:effectLst/>
                        </a:rPr>
                        <a:t>What is the level of PrEP uptake within the target population?</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a:solidFill>
                            <a:schemeClr val="tx1"/>
                          </a:solidFill>
                          <a:effectLst/>
                        </a:rPr>
                        <a:t>Number of eligible individuals initiated on PrEP.</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Health Records </a:t>
                      </a:r>
                    </a:p>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PrEP distribution logs/register.</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Monthly</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extLst>
                  <a:ext uri="{0D108BD9-81ED-4DB2-BD59-A6C34878D82A}">
                    <a16:rowId xmlns:a16="http://schemas.microsoft.com/office/drawing/2014/main" val="2886174093"/>
                  </a:ext>
                </a:extLst>
              </a:tr>
              <a:tr h="3215905">
                <a:tc>
                  <a:txBody>
                    <a:bodyPr/>
                    <a:lstStyle/>
                    <a:p>
                      <a:pPr marL="0" marR="0" algn="l">
                        <a:lnSpc>
                          <a:spcPct val="100000"/>
                        </a:lnSpc>
                        <a:spcBef>
                          <a:spcPts val="0"/>
                        </a:spcBef>
                        <a:spcAft>
                          <a:spcPts val="0"/>
                        </a:spcAft>
                      </a:pPr>
                      <a:r>
                        <a:rPr lang="en-US" sz="2400" kern="100">
                          <a:solidFill>
                            <a:schemeClr val="tx1"/>
                          </a:solidFill>
                          <a:effectLst/>
                        </a:rPr>
                        <a:t>Knowledge level of MSM and TGW about HIV prevention and treatment.</a:t>
                      </a:r>
                    </a:p>
                    <a:p>
                      <a:pPr marL="0" marR="0" algn="l">
                        <a:lnSpc>
                          <a:spcPct val="100000"/>
                        </a:lnSpc>
                        <a:spcBef>
                          <a:spcPts val="0"/>
                        </a:spcBef>
                        <a:spcAft>
                          <a:spcPts val="0"/>
                        </a:spcAft>
                      </a:pPr>
                      <a:r>
                        <a:rPr lang="en-US" sz="2400" kern="100">
                          <a:solidFill>
                            <a:schemeClr val="tx1"/>
                          </a:solidFill>
                          <a:effectLst/>
                        </a:rPr>
                        <a:t> </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a:solidFill>
                            <a:schemeClr val="tx1"/>
                          </a:solidFill>
                          <a:effectLst/>
                        </a:rPr>
                        <a:t>How much has the HIV education program improved HIV prevention and treatment knowledge in the target population?</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a:solidFill>
                            <a:schemeClr val="tx1"/>
                          </a:solidFill>
                          <a:effectLst/>
                        </a:rPr>
                        <a:t>Percentage increase in knowledge about HIV prevention and treatment within the target population.</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342900" marR="0" lvl="0" indent="-342900" algn="l">
                        <a:lnSpc>
                          <a:spcPct val="100000"/>
                        </a:lnSpc>
                        <a:spcBef>
                          <a:spcPts val="0"/>
                        </a:spcBef>
                        <a:spcAft>
                          <a:spcPts val="0"/>
                        </a:spcAft>
                        <a:buFont typeface="+mj-lt"/>
                        <a:buAutoNum type="arabicPeriod"/>
                      </a:pPr>
                      <a:r>
                        <a:rPr lang="en-US" sz="2400" kern="100" dirty="0">
                          <a:solidFill>
                            <a:schemeClr val="tx1"/>
                          </a:solidFill>
                          <a:effectLst/>
                        </a:rPr>
                        <a:t>Surveys</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Baseline </a:t>
                      </a:r>
                    </a:p>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Quarterly</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extLst>
                  <a:ext uri="{0D108BD9-81ED-4DB2-BD59-A6C34878D82A}">
                    <a16:rowId xmlns:a16="http://schemas.microsoft.com/office/drawing/2014/main" val="3345411266"/>
                  </a:ext>
                </a:extLst>
              </a:tr>
              <a:tr h="1429291">
                <a:tc>
                  <a:txBody>
                    <a:bodyPr/>
                    <a:lstStyle/>
                    <a:p>
                      <a:pPr marL="0" marR="0" algn="l">
                        <a:lnSpc>
                          <a:spcPct val="100000"/>
                        </a:lnSpc>
                        <a:spcBef>
                          <a:spcPts val="0"/>
                        </a:spcBef>
                        <a:spcAft>
                          <a:spcPts val="0"/>
                        </a:spcAft>
                      </a:pPr>
                      <a:r>
                        <a:rPr lang="en-US" sz="2400" kern="100">
                          <a:solidFill>
                            <a:schemeClr val="tx1"/>
                          </a:solidFill>
                          <a:effectLst/>
                        </a:rPr>
                        <a:t>Condom usage rate</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a:solidFill>
                            <a:schemeClr val="tx1"/>
                          </a:solidFill>
                          <a:effectLst/>
                        </a:rPr>
                        <a:t>How much has condom usage increased due to the intervention?</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1000"/>
                        </a:spcAft>
                      </a:pPr>
                      <a:r>
                        <a:rPr lang="en-US" sz="2400" kern="100">
                          <a:solidFill>
                            <a:schemeClr val="tx1"/>
                          </a:solidFill>
                          <a:effectLst/>
                        </a:rPr>
                        <a:t>Percentage increase in condom usage.</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Surveys</a:t>
                      </a:r>
                    </a:p>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Self-reported data</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Baseline </a:t>
                      </a:r>
                    </a:p>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Monthly</a:t>
                      </a:r>
                    </a:p>
                    <a:p>
                      <a:pPr marL="0" marR="0" algn="l">
                        <a:lnSpc>
                          <a:spcPct val="100000"/>
                        </a:lnSpc>
                        <a:spcBef>
                          <a:spcPts val="0"/>
                        </a:spcBef>
                        <a:spcAft>
                          <a:spcPts val="0"/>
                        </a:spcAft>
                      </a:pPr>
                      <a:r>
                        <a:rPr lang="en-US" sz="2400" kern="100">
                          <a:solidFill>
                            <a:schemeClr val="tx1"/>
                          </a:solidFill>
                          <a:effectLst/>
                        </a:rPr>
                        <a:t> </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extLst>
                  <a:ext uri="{0D108BD9-81ED-4DB2-BD59-A6C34878D82A}">
                    <a16:rowId xmlns:a16="http://schemas.microsoft.com/office/drawing/2014/main" val="1209312373"/>
                  </a:ext>
                </a:extLst>
              </a:tr>
              <a:tr h="2501259">
                <a:tc>
                  <a:txBody>
                    <a:bodyPr/>
                    <a:lstStyle/>
                    <a:p>
                      <a:pPr marL="0" marR="0" algn="l">
                        <a:lnSpc>
                          <a:spcPct val="100000"/>
                        </a:lnSpc>
                        <a:spcBef>
                          <a:spcPts val="0"/>
                        </a:spcBef>
                        <a:spcAft>
                          <a:spcPts val="0"/>
                        </a:spcAft>
                      </a:pPr>
                      <a:r>
                        <a:rPr lang="en-US" sz="2400" kern="100">
                          <a:solidFill>
                            <a:schemeClr val="tx1"/>
                          </a:solidFill>
                          <a:effectLst/>
                        </a:rPr>
                        <a:t>Utilization of HIV prevention and treatment services</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dirty="0">
                          <a:solidFill>
                            <a:schemeClr val="tx1"/>
                          </a:solidFill>
                          <a:effectLst/>
                        </a:rPr>
                        <a:t>How much has the intervention boosted the utilization of HIV prevention and treatment services?</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0" marR="0" algn="l">
                        <a:lnSpc>
                          <a:spcPct val="100000"/>
                        </a:lnSpc>
                        <a:spcBef>
                          <a:spcPts val="0"/>
                        </a:spcBef>
                        <a:spcAft>
                          <a:spcPts val="0"/>
                        </a:spcAft>
                      </a:pPr>
                      <a:r>
                        <a:rPr lang="en-US" sz="2400" kern="100">
                          <a:solidFill>
                            <a:schemeClr val="tx1"/>
                          </a:solidFill>
                          <a:effectLst/>
                        </a:rPr>
                        <a:t>Percentage increase in the utilization rate of HIV prevention and treatment services.</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Records from the register</a:t>
                      </a:r>
                    </a:p>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Surveys </a:t>
                      </a:r>
                    </a:p>
                    <a:p>
                      <a:pPr marL="342900" marR="0" lvl="0" indent="-342900" algn="l">
                        <a:lnSpc>
                          <a:spcPct val="100000"/>
                        </a:lnSpc>
                        <a:spcBef>
                          <a:spcPts val="0"/>
                        </a:spcBef>
                        <a:spcAft>
                          <a:spcPts val="0"/>
                        </a:spcAft>
                        <a:buFont typeface="+mj-lt"/>
                        <a:buAutoNum type="arabicPeriod"/>
                      </a:pPr>
                      <a:r>
                        <a:rPr lang="en-US" sz="2400" kern="100">
                          <a:solidFill>
                            <a:schemeClr val="tx1"/>
                          </a:solidFill>
                          <a:effectLst/>
                        </a:rPr>
                        <a:t>Self-reported </a:t>
                      </a:r>
                    </a:p>
                    <a:p>
                      <a:pPr marL="0" marR="0" algn="l">
                        <a:lnSpc>
                          <a:spcPct val="100000"/>
                        </a:lnSpc>
                        <a:spcBef>
                          <a:spcPts val="0"/>
                        </a:spcBef>
                        <a:spcAft>
                          <a:spcPts val="0"/>
                        </a:spcAft>
                      </a:pPr>
                      <a:r>
                        <a:rPr lang="en-US" sz="2400" kern="100">
                          <a:solidFill>
                            <a:schemeClr val="tx1"/>
                          </a:solidFill>
                          <a:effectLst/>
                        </a:rPr>
                        <a:t> </a:t>
                      </a:r>
                      <a:endParaRPr lang="en-US" sz="24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tc>
                  <a:txBody>
                    <a:bodyPr/>
                    <a:lstStyle/>
                    <a:p>
                      <a:pPr marL="342900" marR="0" lvl="0" indent="-342900" algn="l">
                        <a:lnSpc>
                          <a:spcPct val="100000"/>
                        </a:lnSpc>
                        <a:spcBef>
                          <a:spcPts val="0"/>
                        </a:spcBef>
                        <a:spcAft>
                          <a:spcPts val="0"/>
                        </a:spcAft>
                        <a:buFont typeface="+mj-lt"/>
                        <a:buAutoNum type="arabicPeriod"/>
                      </a:pPr>
                      <a:r>
                        <a:rPr lang="en-US" sz="2400" kern="100" dirty="0">
                          <a:solidFill>
                            <a:schemeClr val="tx1"/>
                          </a:solidFill>
                          <a:effectLst/>
                        </a:rPr>
                        <a:t>Baseline </a:t>
                      </a:r>
                    </a:p>
                    <a:p>
                      <a:pPr marL="342900" marR="0" lvl="0" indent="-342900" algn="l">
                        <a:lnSpc>
                          <a:spcPct val="100000"/>
                        </a:lnSpc>
                        <a:spcBef>
                          <a:spcPts val="0"/>
                        </a:spcBef>
                        <a:spcAft>
                          <a:spcPts val="1000"/>
                        </a:spcAft>
                        <a:buFont typeface="+mj-lt"/>
                        <a:buAutoNum type="arabicPeriod"/>
                      </a:pPr>
                      <a:r>
                        <a:rPr lang="en-US" sz="2400" kern="100" dirty="0">
                          <a:solidFill>
                            <a:schemeClr val="tx1"/>
                          </a:solidFill>
                          <a:effectLst/>
                        </a:rPr>
                        <a:t>Monthly</a:t>
                      </a:r>
                      <a:endParaRPr lang="en-US" sz="24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0134" marR="50134" marT="0" marB="0"/>
                </a:tc>
                <a:extLst>
                  <a:ext uri="{0D108BD9-81ED-4DB2-BD59-A6C34878D82A}">
                    <a16:rowId xmlns:a16="http://schemas.microsoft.com/office/drawing/2014/main" val="3388079159"/>
                  </a:ext>
                </a:extLst>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EAF3E"/>
        </a:solidFill>
        <a:effectLst/>
      </p:bgPr>
    </p:bg>
    <p:spTree>
      <p:nvGrpSpPr>
        <p:cNvPr id="1" name=""/>
        <p:cNvGrpSpPr/>
        <p:nvPr/>
      </p:nvGrpSpPr>
      <p:grpSpPr>
        <a:xfrm>
          <a:off x="0" y="0"/>
          <a:ext cx="0" cy="0"/>
          <a:chOff x="0" y="0"/>
          <a:chExt cx="0" cy="0"/>
        </a:xfrm>
      </p:grpSpPr>
      <p:grpSp>
        <p:nvGrpSpPr>
          <p:cNvPr id="6" name="Group 6"/>
          <p:cNvGrpSpPr/>
          <p:nvPr/>
        </p:nvGrpSpPr>
        <p:grpSpPr>
          <a:xfrm>
            <a:off x="15201900" y="0"/>
            <a:ext cx="3086100" cy="10287000"/>
            <a:chOff x="0" y="0"/>
            <a:chExt cx="812800" cy="2709333"/>
          </a:xfrm>
          <a:solidFill>
            <a:srgbClr val="E2311E"/>
          </a:solidFill>
        </p:grpSpPr>
        <p:sp>
          <p:nvSpPr>
            <p:cNvPr id="7" name="Freeform 7"/>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grpFill/>
          </p:spPr>
        </p:sp>
        <p:sp>
          <p:nvSpPr>
            <p:cNvPr id="8" name="TextBox 8"/>
            <p:cNvSpPr txBox="1"/>
            <p:nvPr/>
          </p:nvSpPr>
          <p:spPr>
            <a:xfrm>
              <a:off x="0" y="-28575"/>
              <a:ext cx="812800" cy="841375"/>
            </a:xfrm>
            <a:prstGeom prst="rect">
              <a:avLst/>
            </a:prstGeom>
            <a:grpFill/>
          </p:spPr>
          <p:txBody>
            <a:bodyPr lIns="50800" tIns="50800" rIns="50800" bIns="50800" rtlCol="0" anchor="ctr"/>
            <a:lstStyle/>
            <a:p>
              <a:pPr algn="ctr">
                <a:lnSpc>
                  <a:spcPts val="2590"/>
                </a:lnSpc>
              </a:pPr>
              <a:endParaRPr/>
            </a:p>
          </p:txBody>
        </p:sp>
      </p:grpSp>
      <p:sp>
        <p:nvSpPr>
          <p:cNvPr id="9" name="TextBox 9"/>
          <p:cNvSpPr txBox="1"/>
          <p:nvPr/>
        </p:nvSpPr>
        <p:spPr>
          <a:xfrm>
            <a:off x="1518357" y="730571"/>
            <a:ext cx="6724410" cy="864276"/>
          </a:xfrm>
          <a:prstGeom prst="rect">
            <a:avLst/>
          </a:prstGeom>
        </p:spPr>
        <p:txBody>
          <a:bodyPr lIns="0" tIns="0" rIns="0" bIns="0" rtlCol="0" anchor="t">
            <a:spAutoFit/>
          </a:bodyPr>
          <a:lstStyle/>
          <a:p>
            <a:pPr>
              <a:lnSpc>
                <a:spcPts val="6699"/>
              </a:lnSpc>
            </a:pPr>
            <a:r>
              <a:rPr lang="en-US" sz="6000" dirty="0" smtClean="0">
                <a:solidFill>
                  <a:schemeClr val="bg1"/>
                </a:solidFill>
                <a:latin typeface="DM Sans Bold"/>
              </a:rPr>
              <a:t>Conclusion:</a:t>
            </a:r>
            <a:endParaRPr lang="en-US" sz="6000" dirty="0">
              <a:solidFill>
                <a:schemeClr val="bg1"/>
              </a:solidFill>
              <a:latin typeface="DM Sans Bold"/>
            </a:endParaRPr>
          </a:p>
        </p:txBody>
      </p:sp>
      <p:sp>
        <p:nvSpPr>
          <p:cNvPr id="10" name="TextBox 10"/>
          <p:cNvSpPr txBox="1"/>
          <p:nvPr/>
        </p:nvSpPr>
        <p:spPr>
          <a:xfrm>
            <a:off x="1541217" y="2643505"/>
            <a:ext cx="12403383" cy="4431983"/>
          </a:xfrm>
          <a:prstGeom prst="rect">
            <a:avLst/>
          </a:prstGeom>
        </p:spPr>
        <p:txBody>
          <a:bodyPr wrap="square" lIns="0" tIns="0" rIns="0" bIns="0" rtlCol="0" anchor="t">
            <a:spAutoFit/>
          </a:bodyPr>
          <a:lstStyle/>
          <a:p>
            <a:pPr>
              <a:spcBef>
                <a:spcPct val="0"/>
              </a:spcBef>
            </a:pPr>
            <a:r>
              <a:rPr lang="en-US" sz="3600" dirty="0">
                <a:solidFill>
                  <a:schemeClr val="bg1"/>
                </a:solidFill>
                <a:latin typeface="DM Sans"/>
              </a:rPr>
              <a:t>•	In conclusion, this intervention represents our commitment to combat the alarming HIV prevalence among MSM and TGW communities. </a:t>
            </a:r>
            <a:endParaRPr lang="en-US" sz="3600" dirty="0" smtClean="0">
              <a:solidFill>
                <a:schemeClr val="bg1"/>
              </a:solidFill>
              <a:latin typeface="DM Sans"/>
            </a:endParaRPr>
          </a:p>
          <a:p>
            <a:pPr>
              <a:spcBef>
                <a:spcPct val="0"/>
              </a:spcBef>
            </a:pPr>
            <a:endParaRPr lang="en-US" sz="3600" dirty="0">
              <a:solidFill>
                <a:schemeClr val="bg1"/>
              </a:solidFill>
              <a:latin typeface="DM Sans"/>
            </a:endParaRPr>
          </a:p>
          <a:p>
            <a:pPr>
              <a:spcBef>
                <a:spcPct val="0"/>
              </a:spcBef>
            </a:pPr>
            <a:r>
              <a:rPr lang="en-US" sz="3600" dirty="0">
                <a:solidFill>
                  <a:schemeClr val="bg1"/>
                </a:solidFill>
                <a:latin typeface="DM Sans"/>
              </a:rPr>
              <a:t>•	This intervention is not just a response; it is a lifeline for MSM and TGW individuals facing disproportionate risks. It is essential in our collective effort to halt the spread of HIV within these communities.</a:t>
            </a:r>
            <a:endParaRPr lang="en-US" sz="3600" dirty="0">
              <a:solidFill>
                <a:schemeClr val="bg1"/>
              </a:solidFill>
              <a:latin typeface="DM Sans"/>
            </a:endParaRPr>
          </a:p>
        </p:txBody>
      </p:sp>
    </p:spTree>
    <p:extLst>
      <p:ext uri="{BB962C8B-B14F-4D97-AF65-F5344CB8AC3E}">
        <p14:creationId xmlns:p14="http://schemas.microsoft.com/office/powerpoint/2010/main" val="16242400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EAF3E"/>
        </a:solidFill>
        <a:effectLst/>
      </p:bgPr>
    </p:bg>
    <p:spTree>
      <p:nvGrpSpPr>
        <p:cNvPr id="1" name=""/>
        <p:cNvGrpSpPr/>
        <p:nvPr/>
      </p:nvGrpSpPr>
      <p:grpSpPr>
        <a:xfrm>
          <a:off x="0" y="0"/>
          <a:ext cx="0" cy="0"/>
          <a:chOff x="0" y="0"/>
          <a:chExt cx="0" cy="0"/>
        </a:xfrm>
      </p:grpSpPr>
      <p:grpSp>
        <p:nvGrpSpPr>
          <p:cNvPr id="14" name="Group 14"/>
          <p:cNvGrpSpPr/>
          <p:nvPr/>
        </p:nvGrpSpPr>
        <p:grpSpPr>
          <a:xfrm>
            <a:off x="3101714" y="9171406"/>
            <a:ext cx="534212" cy="5342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16" name="TextBox 16"/>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grpSp>
        <p:nvGrpSpPr>
          <p:cNvPr id="17" name="Group 17"/>
          <p:cNvGrpSpPr/>
          <p:nvPr/>
        </p:nvGrpSpPr>
        <p:grpSpPr>
          <a:xfrm>
            <a:off x="1303886" y="-594687"/>
            <a:ext cx="1537234" cy="153723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19" name="TextBox 19"/>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grpSp>
        <p:nvGrpSpPr>
          <p:cNvPr id="20" name="Group 20"/>
          <p:cNvGrpSpPr/>
          <p:nvPr/>
        </p:nvGrpSpPr>
        <p:grpSpPr>
          <a:xfrm>
            <a:off x="10425671" y="458568"/>
            <a:ext cx="483979" cy="48397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22" name="TextBox 22"/>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grpSp>
        <p:nvGrpSpPr>
          <p:cNvPr id="36" name="Group 11"/>
          <p:cNvGrpSpPr/>
          <p:nvPr/>
        </p:nvGrpSpPr>
        <p:grpSpPr>
          <a:xfrm>
            <a:off x="6400798" y="2095495"/>
            <a:ext cx="5881521" cy="5727242"/>
            <a:chOff x="0" y="-14287"/>
            <a:chExt cx="812800" cy="812800"/>
          </a:xfrm>
        </p:grpSpPr>
        <p:sp>
          <p:nvSpPr>
            <p:cNvPr id="37" name="Freeform 12"/>
            <p:cNvSpPr/>
            <p:nvPr/>
          </p:nvSpPr>
          <p:spPr>
            <a:xfrm>
              <a:off x="0" y="-14287"/>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2706"/>
            </a:solidFill>
            <a:ln cap="sq">
              <a:noFill/>
              <a:prstDash val="solid"/>
              <a:miter/>
            </a:ln>
          </p:spPr>
        </p:sp>
        <p:sp>
          <p:nvSpPr>
            <p:cNvPr id="38" name="TextBox 13"/>
            <p:cNvSpPr txBox="1"/>
            <p:nvPr/>
          </p:nvSpPr>
          <p:spPr>
            <a:xfrm>
              <a:off x="76200" y="47625"/>
              <a:ext cx="660400" cy="688975"/>
            </a:xfrm>
            <a:prstGeom prst="rect">
              <a:avLst/>
            </a:prstGeom>
          </p:spPr>
          <p:txBody>
            <a:bodyPr lIns="50800" tIns="50800" rIns="50800" bIns="50800" rtlCol="0" anchor="ctr"/>
            <a:lstStyle/>
            <a:p>
              <a:pPr marL="0" lvl="0" indent="0" algn="ctr">
                <a:lnSpc>
                  <a:spcPts val="2590"/>
                </a:lnSpc>
                <a:spcBef>
                  <a:spcPct val="0"/>
                </a:spcBef>
              </a:pPr>
              <a:endParaRPr/>
            </a:p>
          </p:txBody>
        </p:sp>
      </p:grpSp>
      <p:sp>
        <p:nvSpPr>
          <p:cNvPr id="2" name="TextBox 2"/>
          <p:cNvSpPr txBox="1"/>
          <p:nvPr/>
        </p:nvSpPr>
        <p:spPr>
          <a:xfrm>
            <a:off x="4112559" y="4528833"/>
            <a:ext cx="10457998" cy="860557"/>
          </a:xfrm>
          <a:prstGeom prst="rect">
            <a:avLst/>
          </a:prstGeom>
        </p:spPr>
        <p:txBody>
          <a:bodyPr wrap="square" lIns="0" tIns="0" rIns="0" bIns="0" rtlCol="0" anchor="t">
            <a:spAutoFit/>
          </a:bodyPr>
          <a:lstStyle/>
          <a:p>
            <a:pPr marL="0" lvl="0" indent="0" algn="l">
              <a:lnSpc>
                <a:spcPts val="5859"/>
              </a:lnSpc>
              <a:spcBef>
                <a:spcPct val="0"/>
              </a:spcBef>
            </a:pPr>
            <a:r>
              <a:rPr lang="en-US" sz="8000" dirty="0" smtClean="0">
                <a:solidFill>
                  <a:schemeClr val="bg1"/>
                </a:solidFill>
                <a:latin typeface="DM Sans Bold"/>
              </a:rPr>
              <a:t>Thanks </a:t>
            </a:r>
            <a:r>
              <a:rPr lang="en-US" sz="8000" dirty="0">
                <a:solidFill>
                  <a:schemeClr val="bg1"/>
                </a:solidFill>
                <a:latin typeface="DM Sans Bold"/>
              </a:rPr>
              <a:t>For Watching</a:t>
            </a:r>
          </a:p>
        </p:txBody>
      </p:sp>
      <p:sp>
        <p:nvSpPr>
          <p:cNvPr id="41" name="Rounded Rectangle 40"/>
          <p:cNvSpPr/>
          <p:nvPr/>
        </p:nvSpPr>
        <p:spPr>
          <a:xfrm>
            <a:off x="3482169" y="4044717"/>
            <a:ext cx="11718781" cy="1555983"/>
          </a:xfrm>
          <a:prstGeom prst="round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567</Words>
  <Application>Microsoft Office PowerPoint</Application>
  <PresentationFormat>Custom</PresentationFormat>
  <Paragraphs>82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Canva Sans Bold</vt:lpstr>
      <vt:lpstr>Times New Roman</vt:lpstr>
      <vt:lpstr>DM Sans Bold</vt:lpstr>
      <vt:lpstr>Arial</vt:lpstr>
      <vt:lpstr>Calibri</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Minimal Professional Business Project Presentation</dc:title>
  <dc:creator>ACER</dc:creator>
  <cp:lastModifiedBy>Moorche</cp:lastModifiedBy>
  <cp:revision>37</cp:revision>
  <dcterms:created xsi:type="dcterms:W3CDTF">2006-08-16T00:00:00Z</dcterms:created>
  <dcterms:modified xsi:type="dcterms:W3CDTF">2023-09-27T10:29:57Z</dcterms:modified>
  <dc:identifier>DAFvnpbGV9Q</dc:identifier>
</cp:coreProperties>
</file>